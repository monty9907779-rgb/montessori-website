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33"/>
    <p:sldId id="283" r:id="rId34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MONTESSORI HYBRID PLATFORM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KINGDOM OF SAUDI ARABIA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Strategy Plan  |  School · SaaS · E-Commerce  |  KSA-First · Vision 2030 Aligned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3456432"/>
            <a:ext cx="4023360" cy="384048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456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🇸🇦  CONFIDENTIAL  •  MAY 2026  •  KSA EDITION v1.1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What This Deck Covers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74980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475488" cy="74980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9235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Platform Vision &amp; Three Pillars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749808"/>
          </a:xfrm>
          <a:prstGeom prst="rect">
            <a:avLst/>
          </a:prstGeom>
          <a:solidFill>
            <a:srgbClr val="F1F8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83080"/>
            <a:ext cx="475488" cy="74980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18379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Market Opportunity &amp; Vision 2030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114800" cy="74980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475488" cy="74980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6974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27523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SaaS Benchmarks (Saudi Adapted)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4114800" cy="749808"/>
          </a:xfrm>
          <a:prstGeom prst="rect">
            <a:avLst/>
          </a:prstGeom>
          <a:solidFill>
            <a:srgbClr val="F1F8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475488" cy="74980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118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" y="36667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Competitive Landscape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868680"/>
            <a:ext cx="4114800" cy="74980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868680"/>
            <a:ext cx="475488" cy="74980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8686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13248" y="9235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Architecture &amp; Saudi Features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783080"/>
            <a:ext cx="4114800" cy="749808"/>
          </a:xfrm>
          <a:prstGeom prst="rect">
            <a:avLst/>
          </a:prstGeom>
          <a:solidFill>
            <a:srgbClr val="F1F8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783080"/>
            <a:ext cx="475488" cy="74980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7830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13248" y="18379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SEO — Saudi Arabic, ar-sa, City Targeting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2697480"/>
            <a:ext cx="4114800" cy="74980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697480"/>
            <a:ext cx="475488" cy="74980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6974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13248" y="27523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Audit + Saudi Compliance (PDPL, ZATCA)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611880"/>
            <a:ext cx="4114800" cy="749808"/>
          </a:xfrm>
          <a:prstGeom prst="rect">
            <a:avLst/>
          </a:prstGeom>
          <a:solidFill>
            <a:srgbClr val="F1F8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611880"/>
            <a:ext cx="475488" cy="74980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6118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13248" y="36667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Monetization — SAR, Mada, STC Pay, Tamara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6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KSA Platform Vision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Kingdom's first and only native Arabic Montessori hybrid platform — School + SaaS + Store in one.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KINGDOM OF SAUDI ARABIA  •  STRATEGY 2025–26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Vision — Three Pillars, One KSA Brand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Arabia's only platform combining Montessori school management, SaaS tools, and a certified materials store — 100% Arabic-native, PDPL-compliant, Vision 2030 aligned.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432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743200" cy="73152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813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🏫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176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school presence, MoE-compliant enrollment, WhatsApp parent comms, Snapchat classroom moments.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371600"/>
            <a:ext cx="27432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371600"/>
            <a:ext cx="2743200" cy="7315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4813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55848" y="2176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01568" y="2743200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management for Saudi educators: curriculum tracking, SAR billing, PDPL-compliant data on KSA servers.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1371600"/>
            <a:ext cx="27432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1371600"/>
            <a:ext cx="2743200" cy="7315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4813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00216" y="2176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45936" y="2743200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AMI/AMS certified materials in SAR. Mada + STC Pay + Tamara BNPL. Fast delivery across KSA.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Market Opportunity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6,000+ private schools. 98.6% internet penetration. Zero native Montessori SaaS platform. Blue ocean.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KINGDOM OF SAUDI ARABIA  •  STRATEGY 2025–26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— Market Opportunity Snapshot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993392" cy="1572768"/>
          </a:xfrm>
          <a:prstGeom prst="rect">
            <a:avLst/>
          </a:prstGeom>
          <a:solidFill>
            <a:srgbClr val="006C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914400"/>
            <a:ext cx="199339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735165"/>
            <a:ext cx="1993392" cy="59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Schools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KSA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4872" y="822960"/>
            <a:ext cx="1993392" cy="1572768"/>
          </a:xfrm>
          <a:prstGeom prst="rect">
            <a:avLst/>
          </a:prstGeom>
          <a:solidFill>
            <a:srgbClr val="004D2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04872" y="914400"/>
            <a:ext cx="199339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04872" y="1735165"/>
            <a:ext cx="1993392" cy="59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Montessori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KSA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81144" y="822960"/>
            <a:ext cx="1993392" cy="1572768"/>
          </a:xfrm>
          <a:prstGeom prst="rect">
            <a:avLst/>
          </a:prstGeom>
          <a:solidFill>
            <a:srgbClr val="2632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81144" y="914400"/>
            <a:ext cx="199339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81144" y="1735165"/>
            <a:ext cx="1993392" cy="59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EdTech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57416" y="822960"/>
            <a:ext cx="1993392" cy="1572768"/>
          </a:xfrm>
          <a:prstGeom prst="rect">
            <a:avLst/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57416" y="914400"/>
            <a:ext cx="199339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57416" y="1735165"/>
            <a:ext cx="1993392" cy="59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KSA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606040"/>
            <a:ext cx="1993392" cy="1572768"/>
          </a:xfrm>
          <a:prstGeom prst="rect">
            <a:avLst/>
          </a:prstGeom>
          <a:solidFill>
            <a:srgbClr val="0079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" y="2697480"/>
            <a:ext cx="199339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28600" y="3518245"/>
            <a:ext cx="1993392" cy="59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04872" y="2606040"/>
            <a:ext cx="1993392" cy="1572768"/>
          </a:xfrm>
          <a:prstGeom prst="rect">
            <a:avLst/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04872" y="2697480"/>
            <a:ext cx="199339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404872" y="3518245"/>
            <a:ext cx="1993392" cy="59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KSA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81144" y="2606040"/>
            <a:ext cx="1993392" cy="1572768"/>
          </a:xfrm>
          <a:prstGeom prst="rect">
            <a:avLst/>
          </a:prstGeom>
          <a:solidFill>
            <a:srgbClr val="C094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81144" y="2697480"/>
            <a:ext cx="199339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81144" y="3518245"/>
            <a:ext cx="1993392" cy="59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Usage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 Global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57416" y="2606040"/>
            <a:ext cx="1993392" cy="1572768"/>
          </a:xfrm>
          <a:prstGeom prst="rect">
            <a:avLst/>
          </a:prstGeom>
          <a:solidFill>
            <a:srgbClr val="006C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57416" y="2697480"/>
            <a:ext cx="199339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757416" y="3518245"/>
            <a:ext cx="1993392" cy="59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Ed-Tech National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Alignment — Our Platform Supports National Goals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Vision 2030's Human Capability Development Program identifies EdTech, critical thinking, and 21st-century skills as national priorities. Montessori directly delivers these.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41605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71600"/>
            <a:ext cx="64008" cy="148132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Human Capital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847088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targets 60% of students reaching global learning benchmarks. Montessori's child-led, skills-first model directly supports this outcome.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605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71600"/>
            <a:ext cx="64008" cy="1481328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Innovation &amp; Creativity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47088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emphasises innovation, critical thinking, and entrepreneurship. Montessori is the world's original innovation education model.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3017520"/>
            <a:ext cx="41605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3017520"/>
            <a:ext cx="64008" cy="148132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Digital Transformation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3493008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Transformation Program mandates digital tools for all private schools. Our SaaS platform is the KSA-first digital layer for Montessori schools.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1605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17520"/>
            <a:ext cx="64008" cy="1481328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Private Sector Education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93008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is incentivising private school growth under Vision 2030. Montessori schools are growing 8% YoY. Our platform serves this expanding market.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6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Benchmarks — Saudi Adapted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global leaders. Every lesson adapted for KSA users: WhatsApp-first, Snapchat-aware, SAR-priced, RTL-native.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KINGDOM OF SAUDI ARABIA  •  STRATEGY 2025–26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Global SaaS Leaders — KSA Adaptations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011680" cy="6400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932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— Outcome-First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'How Saudi schools use us' pages. Vision 2030 badge. Free Arabic curriculum templates.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32304" y="804672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804672"/>
            <a:ext cx="2011680" cy="64008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2" name="Text 10"/>
          <p:cNvSpPr/>
          <p:nvPr/>
        </p:nvSpPr>
        <p:spPr>
          <a:xfrm>
            <a:off x="2523744" y="932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— SAR Pricing Clarity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23744" y="12984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in SAR. Mada + STC Pay logos above fold. Calm Arabic hero, single CTA.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804672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804672"/>
            <a:ext cx="2011680" cy="64008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00016" y="932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— Saudi Mobile Speed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00016" y="12984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Sub-2.5s LCP on STC/Mobily 4G. PWA offline mode. Dark mode (peak: Ramadan nights).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84848" y="804672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84848" y="804672"/>
            <a:ext cx="2011680" cy="6400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20" name="Text 18"/>
          <p:cNvSpPr/>
          <p:nvPr/>
        </p:nvSpPr>
        <p:spPr>
          <a:xfrm>
            <a:off x="6876288" y="932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Webflow — Saudi Role Nav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76288" y="12984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'للمدارس | للمعلمين | للأولياء | للمتجر' — instant Arabic audience routing.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7432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743200"/>
            <a:ext cx="2011680" cy="640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871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— WhatsApp Demo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7472" y="3236976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via WhatsApp — Saudi users trust WhatsApp over email. Snapchat Story Ads drive trials.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32304" y="27432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32304" y="2743200"/>
            <a:ext cx="2011680" cy="6400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8" name="Text 26"/>
          <p:cNvSpPr/>
          <p:nvPr/>
        </p:nvSpPr>
        <p:spPr>
          <a:xfrm>
            <a:off x="2523744" y="2871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— Arabic SEO Engine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523744" y="3236976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dialect blog content. Ramadan Arabic campaign. WhatsApp newsletter (73% KSA open rate).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08576" y="27432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08576" y="2743200"/>
            <a:ext cx="2011680" cy="64008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32" name="Text 30"/>
          <p:cNvSpPr/>
          <p:nvPr/>
        </p:nvSpPr>
        <p:spPr>
          <a:xfrm>
            <a:off x="4700016" y="2871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— ZATCA Commerce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00016" y="3236976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 e-invoice on every order. Tamara BNPL. 'توصيل سريع للرياض وجدة' trust badge.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KSA Competitive Landscape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competitors offer Saudi payments, PDPL compliance, ZATCA invoicing, or Saudi Arabic dialect. We own this market.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KINGDOM OF SAUDI ARABIA  •  STRATEGY 2025–26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Matrix — Saudi Arabia 2025-26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1920240" cy="402336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7863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76272" y="786384"/>
            <a:ext cx="1143000" cy="402336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9" name="Text 7"/>
          <p:cNvSpPr/>
          <p:nvPr/>
        </p:nvSpPr>
        <p:spPr>
          <a:xfrm>
            <a:off x="2176272" y="78638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Mgmt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786384"/>
            <a:ext cx="1143000" cy="402336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78638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Pay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62272" y="786384"/>
            <a:ext cx="1143000" cy="402336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78638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KSA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05272" y="786384"/>
            <a:ext cx="1143000" cy="402336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5" name="Text 13"/>
          <p:cNvSpPr/>
          <p:nvPr/>
        </p:nvSpPr>
        <p:spPr>
          <a:xfrm>
            <a:off x="5605272" y="78638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ZATCA/VAT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48272" y="786384"/>
            <a:ext cx="2011680" cy="402336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7" name="Text 15"/>
          <p:cNvSpPr/>
          <p:nvPr/>
        </p:nvSpPr>
        <p:spPr>
          <a:xfrm>
            <a:off x="6748272" y="7863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Gap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1207008"/>
            <a:ext cx="192024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Compass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76272" y="1207008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1" name="Text 19"/>
          <p:cNvSpPr/>
          <p:nvPr/>
        </p:nvSpPr>
        <p:spPr>
          <a:xfrm>
            <a:off x="2221992" y="120700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Strong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9272" y="1207008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120700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62272" y="1207008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5" name="Text 23"/>
          <p:cNvSpPr/>
          <p:nvPr/>
        </p:nvSpPr>
        <p:spPr>
          <a:xfrm>
            <a:off x="4507992" y="120700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05272" y="1207008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7" name="Text 25"/>
          <p:cNvSpPr/>
          <p:nvPr/>
        </p:nvSpPr>
        <p:spPr>
          <a:xfrm>
            <a:off x="5650992" y="120700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48272" y="1207008"/>
            <a:ext cx="201168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9" name="Text 27"/>
          <p:cNvSpPr/>
          <p:nvPr/>
        </p:nvSpPr>
        <p:spPr>
          <a:xfrm>
            <a:off x="6793992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only, no Saudi compliance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1783080"/>
            <a:ext cx="192024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" y="17830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Brightwheel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76272" y="1783080"/>
            <a:ext cx="114300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2221992" y="17830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Strong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19272" y="1783080"/>
            <a:ext cx="114300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3364992" y="17830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62272" y="1783080"/>
            <a:ext cx="114300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7" name="Text 35"/>
          <p:cNvSpPr/>
          <p:nvPr/>
        </p:nvSpPr>
        <p:spPr>
          <a:xfrm>
            <a:off x="4507992" y="17830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05272" y="1783080"/>
            <a:ext cx="114300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650992" y="17830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48272" y="1783080"/>
            <a:ext cx="201168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1" name="Text 39"/>
          <p:cNvSpPr/>
          <p:nvPr/>
        </p:nvSpPr>
        <p:spPr>
          <a:xfrm>
            <a:off x="6793992" y="17830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Saudi App Store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" y="2359152"/>
            <a:ext cx="192024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3" name="Text 41"/>
          <p:cNvSpPr/>
          <p:nvPr/>
        </p:nvSpPr>
        <p:spPr>
          <a:xfrm>
            <a:off x="301752" y="23591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Classroom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176272" y="2359152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5" name="Text 43"/>
          <p:cNvSpPr/>
          <p:nvPr/>
        </p:nvSpPr>
        <p:spPr>
          <a:xfrm>
            <a:off x="2221992" y="235915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319272" y="2359152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7" name="Text 45"/>
          <p:cNvSpPr/>
          <p:nvPr/>
        </p:nvSpPr>
        <p:spPr>
          <a:xfrm>
            <a:off x="3364992" y="235915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462272" y="2359152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9" name="Text 47"/>
          <p:cNvSpPr/>
          <p:nvPr/>
        </p:nvSpPr>
        <p:spPr>
          <a:xfrm>
            <a:off x="4507992" y="235915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05272" y="2359152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51" name="Text 49"/>
          <p:cNvSpPr/>
          <p:nvPr/>
        </p:nvSpPr>
        <p:spPr>
          <a:xfrm>
            <a:off x="5650992" y="235915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748272" y="2359152"/>
            <a:ext cx="201168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53" name="Text 51"/>
          <p:cNvSpPr/>
          <p:nvPr/>
        </p:nvSpPr>
        <p:spPr>
          <a:xfrm>
            <a:off x="6793992" y="23591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SAR billing, no ZATCA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56032" y="2935224"/>
            <a:ext cx="192024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5" name="Text 53"/>
          <p:cNvSpPr/>
          <p:nvPr/>
        </p:nvSpPr>
        <p:spPr>
          <a:xfrm>
            <a:off x="301752" y="29352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Classter (used in KSA)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176272" y="2935224"/>
            <a:ext cx="114300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2221992" y="293522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319272" y="2935224"/>
            <a:ext cx="114300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9" name="Text 57"/>
          <p:cNvSpPr/>
          <p:nvPr/>
        </p:nvSpPr>
        <p:spPr>
          <a:xfrm>
            <a:off x="3364992" y="293522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462272" y="2935224"/>
            <a:ext cx="114300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1" name="Text 59"/>
          <p:cNvSpPr/>
          <p:nvPr/>
        </p:nvSpPr>
        <p:spPr>
          <a:xfrm>
            <a:off x="4507992" y="293522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MSA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605272" y="2935224"/>
            <a:ext cx="114300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650992" y="293522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748272" y="2935224"/>
            <a:ext cx="2011680" cy="53035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5" name="Text 63"/>
          <p:cNvSpPr/>
          <p:nvPr/>
        </p:nvSpPr>
        <p:spPr>
          <a:xfrm>
            <a:off x="6793992" y="29352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Montessori module, no Mada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56032" y="3511296"/>
            <a:ext cx="192024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67" name="Text 65"/>
          <p:cNvSpPr/>
          <p:nvPr/>
        </p:nvSpPr>
        <p:spPr>
          <a:xfrm>
            <a:off x="301752" y="35112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iSchoolSaudi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176272" y="3511296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69" name="Text 67"/>
          <p:cNvSpPr/>
          <p:nvPr/>
        </p:nvSpPr>
        <p:spPr>
          <a:xfrm>
            <a:off x="2221992" y="351129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319272" y="3511296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71" name="Text 69"/>
          <p:cNvSpPr/>
          <p:nvPr/>
        </p:nvSpPr>
        <p:spPr>
          <a:xfrm>
            <a:off x="3364992" y="351129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462272" y="3511296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73" name="Text 71"/>
          <p:cNvSpPr/>
          <p:nvPr/>
        </p:nvSpPr>
        <p:spPr>
          <a:xfrm>
            <a:off x="4507992" y="351129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605272" y="3511296"/>
            <a:ext cx="114300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75" name="Text 73"/>
          <p:cNvSpPr/>
          <p:nvPr/>
        </p:nvSpPr>
        <p:spPr>
          <a:xfrm>
            <a:off x="5650992" y="351129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748272" y="3511296"/>
            <a:ext cx="2011680" cy="53035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77" name="Text 75"/>
          <p:cNvSpPr/>
          <p:nvPr/>
        </p:nvSpPr>
        <p:spPr>
          <a:xfrm>
            <a:off x="6793992" y="35112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curriculum tracking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56032" y="4087368"/>
            <a:ext cx="1920240" cy="53035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9" name="Text 77"/>
          <p:cNvSpPr/>
          <p:nvPr/>
        </p:nvSpPr>
        <p:spPr>
          <a:xfrm>
            <a:off x="301752" y="40873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🌱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176272" y="4087368"/>
            <a:ext cx="1143000" cy="53035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1" name="Text 79"/>
          <p:cNvSpPr/>
          <p:nvPr/>
        </p:nvSpPr>
        <p:spPr>
          <a:xfrm>
            <a:off x="2221992" y="40873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319272" y="4087368"/>
            <a:ext cx="1143000" cy="53035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3" name="Text 81"/>
          <p:cNvSpPr/>
          <p:nvPr/>
        </p:nvSpPr>
        <p:spPr>
          <a:xfrm>
            <a:off x="3364992" y="40873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4462272" y="4087368"/>
            <a:ext cx="1143000" cy="53035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5" name="Text 83"/>
          <p:cNvSpPr/>
          <p:nvPr/>
        </p:nvSpPr>
        <p:spPr>
          <a:xfrm>
            <a:off x="4507992" y="40873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Saudi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605272" y="4087368"/>
            <a:ext cx="1143000" cy="53035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7" name="Text 85"/>
          <p:cNvSpPr/>
          <p:nvPr/>
        </p:nvSpPr>
        <p:spPr>
          <a:xfrm>
            <a:off x="5650992" y="40873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748272" y="4087368"/>
            <a:ext cx="2011680" cy="53035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9" name="Text 87"/>
          <p:cNvSpPr/>
          <p:nvPr/>
        </p:nvSpPr>
        <p:spPr>
          <a:xfrm>
            <a:off x="6793992" y="40873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NATIVE KSA PLATFORM —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6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Architecture &amp; Saudi Features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montessori.sa domain. Arabic RTL default. City pages for Riyadh, Jeddah, Dammam, Makkah, Madinah.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KINGDOM OF SAUDI ARABIA  •  STRATEGY 2025–26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Site Architecture — Domain &amp; Structure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73152" cy="804672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montessori.sa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RTL default — Main marketing site, school showcase, e-commerce — ar-sa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55648"/>
            <a:ext cx="73152" cy="804672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en.montessori.sa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for KSA expat community — hreflang en-sa — 15% of Saudi students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88336"/>
            <a:ext cx="73152" cy="80467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79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app.montessori.sa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1455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dashboard — Arabic UI, PDPL-compliant, AWS Bahrain data residency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21024"/>
            <a:ext cx="73152" cy="80467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12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blog.montessori.sa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content hub — Saudi dialect Montessori parenting blog + Snapchat linking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KSA-Specific Platform Features — By Pillar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81635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816352" cy="438912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77724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School (KSA)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private school compliance docs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88366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Hijri + Gregorian dual calendar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46888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parent comms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05409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classroom moment sharing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639312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RTL enrollment with Saudi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777240"/>
            <a:ext cx="281635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777240"/>
            <a:ext cx="2816352" cy="43891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77724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SaaS (KSA)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28416" y="1298448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PDPL-compliant data on AWS Bahrain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188366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 Phase 2 e-invoice generation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28416" y="246888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billing via Moyasar gateway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305409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Nitaqat (Saudisation) reporting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8416" y="3639312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Absher ID verification integration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63056" y="777240"/>
            <a:ext cx="281635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777240"/>
            <a:ext cx="2816352" cy="43891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24" name="Text 22"/>
          <p:cNvSpPr/>
          <p:nvPr/>
        </p:nvSpPr>
        <p:spPr>
          <a:xfrm>
            <a:off x="6236208" y="77724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E-Commerce (KSA)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72784" y="1298448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in SAR, 15% VAT displayed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188366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 + STC Pay + Tamara BNPL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72784" y="246888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Aramex/SMSA nationwide KSA delivery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305409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in Riyadh, Jeddah, Dammam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2784" y="3639312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certification badge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6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KSA SEO Strategy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ar-sa hreflang. Saudi dialect keywords. City-level targeting. Snapchat + WhatsApp social SEO. Google.com.sa domination.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KINGDOM OF SAUDI ARABIA  •  STRATEGY 2025–26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Search Landscape &amp; Hreflang ar-sa Setup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54864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96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Google.com.sa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92224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search market share in KSA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1605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536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Share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92224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Saudi searches on mobile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160520" cy="54864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176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Queries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792224" y="2176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Arabic | 22% English (expats)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1605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92224" y="2816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9pm–2am (post-Isha prayer)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4160520" cy="54864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456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Search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792224" y="3456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+42% YoY — Saudi dialect queries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41605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096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Spike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096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+65% education search during evenings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4206240" cy="3840480"/>
          </a:xfrm>
          <a:prstGeom prst="rect">
            <a:avLst/>
          </a:prstGeom>
          <a:solidFill>
            <a:srgbClr val="1E2A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896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Implementation (KSA Only)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2984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Arabic Saudi Arabia (primary) --&gt;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472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rel="alternate"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6459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hreflang="ar-sa"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8196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href="https://montessori.sa/page" /&gt;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19933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167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English for KSA expats --&gt;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234086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rel="alternate"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5146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hreflang="en-sa"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6883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href="https://en.montessori.sa/page" /&gt;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28620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0358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Default fallback --&gt;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209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rel="alternate"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3832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hreflang="x-default"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3557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href="https://montessori.sa/page" /&gt;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Arabic Keywords — MSA + Saudi Dialect + City Targeting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dialect variants are critical for voice search (42% YoY growth). Pair MSA keywords with Najdi/Hejazi dialect versions for complete coverage.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25296"/>
            <a:ext cx="1828800" cy="36576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252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225296"/>
            <a:ext cx="2011680" cy="36576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2252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Arabic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225296"/>
            <a:ext cx="2011680" cy="36576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2252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Dialect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25296"/>
            <a:ext cx="1371600" cy="36576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225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1225296"/>
            <a:ext cx="1325880" cy="36576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12252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Vol/mo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609344"/>
            <a:ext cx="1828800" cy="49377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" y="16824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Riyadh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03120" y="1609344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0" name="Text 18"/>
          <p:cNvSpPr/>
          <p:nvPr/>
        </p:nvSpPr>
        <p:spPr>
          <a:xfrm>
            <a:off x="2157984" y="16824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مدرسة مونتيسوري الرياض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1609344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2" name="Text 20"/>
          <p:cNvSpPr/>
          <p:nvPr/>
        </p:nvSpPr>
        <p:spPr>
          <a:xfrm>
            <a:off x="4169664" y="16824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مدرسة مونتيسوري بالرياض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1609344"/>
            <a:ext cx="1371600" cy="49377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4" name="Text 22"/>
          <p:cNvSpPr/>
          <p:nvPr/>
        </p:nvSpPr>
        <p:spPr>
          <a:xfrm>
            <a:off x="6181344" y="16824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0" y="1609344"/>
            <a:ext cx="1325880" cy="49377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6" name="Text 24"/>
          <p:cNvSpPr/>
          <p:nvPr/>
        </p:nvSpPr>
        <p:spPr>
          <a:xfrm>
            <a:off x="7552944" y="16824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1828800" cy="4937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Jeddah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03120" y="2103120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0" name="Text 28"/>
          <p:cNvSpPr/>
          <p:nvPr/>
        </p:nvSpPr>
        <p:spPr>
          <a:xfrm>
            <a:off x="2157984" y="2176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مدرسة مونتيسوري جدة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0" y="2103120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2" name="Text 30"/>
          <p:cNvSpPr/>
          <p:nvPr/>
        </p:nvSpPr>
        <p:spPr>
          <a:xfrm>
            <a:off x="4169664" y="2176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مدرسة مونتيسوري في جدة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2103120"/>
            <a:ext cx="1371600" cy="4937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4" name="Text 32"/>
          <p:cNvSpPr/>
          <p:nvPr/>
        </p:nvSpPr>
        <p:spPr>
          <a:xfrm>
            <a:off x="6181344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98080" y="2103120"/>
            <a:ext cx="1325880" cy="4937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6" name="Text 34"/>
          <p:cNvSpPr/>
          <p:nvPr/>
        </p:nvSpPr>
        <p:spPr>
          <a:xfrm>
            <a:off x="7552944" y="21762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2596896"/>
            <a:ext cx="1828800" cy="49377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software KSA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03120" y="2596896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0" name="Text 38"/>
          <p:cNvSpPr/>
          <p:nvPr/>
        </p:nvSpPr>
        <p:spPr>
          <a:xfrm>
            <a:off x="2157984" y="2670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برنامج إدارة مدرسة السعودية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0" y="2596896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2" name="Text 40"/>
          <p:cNvSpPr/>
          <p:nvPr/>
        </p:nvSpPr>
        <p:spPr>
          <a:xfrm>
            <a:off x="4169664" y="2670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إدارة المدرسة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26480" y="2596896"/>
            <a:ext cx="1371600" cy="49377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4" name="Text 42"/>
          <p:cNvSpPr/>
          <p:nvPr/>
        </p:nvSpPr>
        <p:spPr>
          <a:xfrm>
            <a:off x="6181344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98080" y="2596896"/>
            <a:ext cx="1325880" cy="49377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6" name="Text 44"/>
          <p:cNvSpPr/>
          <p:nvPr/>
        </p:nvSpPr>
        <p:spPr>
          <a:xfrm>
            <a:off x="7552944" y="26700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3090672"/>
            <a:ext cx="1828800" cy="4937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Text 46"/>
          <p:cNvSpPr/>
          <p:nvPr/>
        </p:nvSpPr>
        <p:spPr>
          <a:xfrm>
            <a:off x="329184" y="3163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Montessori KSA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03120" y="3090672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0" name="Text 48"/>
          <p:cNvSpPr/>
          <p:nvPr/>
        </p:nvSpPr>
        <p:spPr>
          <a:xfrm>
            <a:off x="2157984" y="31638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شراء أدوات مونتيسوري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114800" y="3090672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2" name="Text 50"/>
          <p:cNvSpPr/>
          <p:nvPr/>
        </p:nvSpPr>
        <p:spPr>
          <a:xfrm>
            <a:off x="4169664" y="31638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وين أشتري أدوات مونتيسوري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26480" y="3090672"/>
            <a:ext cx="1371600" cy="4937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4" name="Text 52"/>
          <p:cNvSpPr/>
          <p:nvPr/>
        </p:nvSpPr>
        <p:spPr>
          <a:xfrm>
            <a:off x="6181344" y="3163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498080" y="3090672"/>
            <a:ext cx="1325880" cy="4937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Text 54"/>
          <p:cNvSpPr/>
          <p:nvPr/>
        </p:nvSpPr>
        <p:spPr>
          <a:xfrm>
            <a:off x="7552944" y="31638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4320" y="3584448"/>
            <a:ext cx="1828800" cy="49377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58" name="Text 56"/>
          <p:cNvSpPr/>
          <p:nvPr/>
        </p:nvSpPr>
        <p:spPr>
          <a:xfrm>
            <a:off x="329184" y="3657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at home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103120" y="3584448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60" name="Text 58"/>
          <p:cNvSpPr/>
          <p:nvPr/>
        </p:nvSpPr>
        <p:spPr>
          <a:xfrm>
            <a:off x="2157984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مونتيسوري في المنزل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114800" y="3584448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62" name="Text 60"/>
          <p:cNvSpPr/>
          <p:nvPr/>
        </p:nvSpPr>
        <p:spPr>
          <a:xfrm>
            <a:off x="4169664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أنشطة مونتيسوري في البيت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126480" y="3584448"/>
            <a:ext cx="1371600" cy="49377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64" name="Text 62"/>
          <p:cNvSpPr/>
          <p:nvPr/>
        </p:nvSpPr>
        <p:spPr>
          <a:xfrm>
            <a:off x="6181344" y="3657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498080" y="3584448"/>
            <a:ext cx="1325880" cy="49377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66" name="Text 64"/>
          <p:cNvSpPr/>
          <p:nvPr/>
        </p:nvSpPr>
        <p:spPr>
          <a:xfrm>
            <a:off x="7552944" y="36576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4,800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74320" y="4078224"/>
            <a:ext cx="1828800" cy="4937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8" name="Text 66"/>
          <p:cNvSpPr/>
          <p:nvPr/>
        </p:nvSpPr>
        <p:spPr>
          <a:xfrm>
            <a:off x="329184" y="4151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education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03120" y="4078224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0" name="Text 68"/>
          <p:cNvSpPr/>
          <p:nvPr/>
        </p:nvSpPr>
        <p:spPr>
          <a:xfrm>
            <a:off x="2157984" y="4151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تعليم رؤية 2030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114800" y="4078224"/>
            <a:ext cx="2011680" cy="49377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2" name="Text 70"/>
          <p:cNvSpPr/>
          <p:nvPr/>
        </p:nvSpPr>
        <p:spPr>
          <a:xfrm>
            <a:off x="4169664" y="4151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أدوات التعليم رؤية 2030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126480" y="4078224"/>
            <a:ext cx="1371600" cy="4937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4" name="Text 72"/>
          <p:cNvSpPr/>
          <p:nvPr/>
        </p:nvSpPr>
        <p:spPr>
          <a:xfrm>
            <a:off x="6181344" y="41513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498080" y="4078224"/>
            <a:ext cx="1325880" cy="4937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6" name="Text 74"/>
          <p:cNvSpPr/>
          <p:nvPr/>
        </p:nvSpPr>
        <p:spPr>
          <a:xfrm>
            <a:off x="7552944" y="41513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Social Media — SEO &amp; Brand Signals by Platform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2788920" cy="54864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896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Snapchat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" y="1243584"/>
            <a:ext cx="1828800" cy="237744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per-capita globally in KSA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57276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Story ads. Snapchat Discover content. Geo-target Riyadh/Jeddah parents aged 25-40. Highest KSA brand discovery platform.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786384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86384"/>
            <a:ext cx="2788920" cy="54864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896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Twitter/X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91840" y="1243584"/>
            <a:ext cx="1828800" cy="237744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per-capita globally in KSA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157276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education hashtags. Trending topics during enrollment season (Aug–Sep). Saudi influencer partnerships.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44768" y="786384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786384"/>
            <a:ext cx="2788920" cy="54864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896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36208" y="1243584"/>
            <a:ext cx="1828800" cy="237744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22" name="Text 20"/>
          <p:cNvSpPr/>
          <p:nvPr/>
        </p:nvSpPr>
        <p:spPr>
          <a:xfrm>
            <a:off x="6236208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KSA penetration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157276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Catalog for materials. Broadcast newsletters (73% open rate vs 22% email). Review request campaigns.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2706624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706624"/>
            <a:ext cx="2788920" cy="54864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2816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TikTok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7472" y="3163824"/>
            <a:ext cx="1828800" cy="237744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163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in KSA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" y="34930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Saudi-dialect Montessori activity videos. Drives search volume uplift for branded queries.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2706624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706624"/>
            <a:ext cx="2788920" cy="54864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2816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Instagram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291840" y="3163824"/>
            <a:ext cx="1828800" cy="237744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3163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visual channel KSA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91840" y="34930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photos. Material unboxing. Saudi Montessori educator profiles. Arabic caption SEO.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44768" y="2706624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2706624"/>
            <a:ext cx="2788920" cy="54864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2816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YouTube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36208" y="3163824"/>
            <a:ext cx="1828800" cy="237744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40" name="Text 38"/>
          <p:cNvSpPr/>
          <p:nvPr/>
        </p:nvSpPr>
        <p:spPr>
          <a:xfrm>
            <a:off x="6236208" y="3163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search engine in KSA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36208" y="34930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Montessori tutorial channel. Long-form content for 'كيف' queries. Saudi educator interviews.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6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Audit — Saudi Compliance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PDPL. ZATCA Phase 2. NCA ECC. WCAG 2.2. Core Web Vitals on STC/Mobily 4G. Full KSA compliance stack.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KINGDOM OF SAUDI ARABIA  •  STRATEGY 2025–26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— Saudi Mobile Network Targets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1591056" cy="502920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29184" y="13898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Contentful Paint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048256"/>
            <a:ext cx="1408176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0665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377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2.5s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" y="2962656"/>
            <a:ext cx="1408176" cy="91440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9809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Target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329184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1.8s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4G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99339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804672"/>
            <a:ext cx="1591056" cy="50292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8" name="Text 16"/>
          <p:cNvSpPr/>
          <p:nvPr/>
        </p:nvSpPr>
        <p:spPr>
          <a:xfrm>
            <a:off x="199339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066544" y="13898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84832" y="2048256"/>
            <a:ext cx="1408176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2084832" y="20665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84832" y="2377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200ms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084832" y="2962656"/>
            <a:ext cx="1408176" cy="91440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4" name="Text 22"/>
          <p:cNvSpPr/>
          <p:nvPr/>
        </p:nvSpPr>
        <p:spPr>
          <a:xfrm>
            <a:off x="2084832" y="29809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Target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84832" y="329184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150ms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(Arabic fonts)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73075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30752" y="804672"/>
            <a:ext cx="1591056" cy="502920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28" name="Text 26"/>
          <p:cNvSpPr/>
          <p:nvPr/>
        </p:nvSpPr>
        <p:spPr>
          <a:xfrm>
            <a:off x="373075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3803904" y="13898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Shift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22192" y="2048256"/>
            <a:ext cx="1408176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3822192" y="20665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22192" y="2377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822192" y="2962656"/>
            <a:ext cx="1408176" cy="91440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4" name="Text 32"/>
          <p:cNvSpPr/>
          <p:nvPr/>
        </p:nvSpPr>
        <p:spPr>
          <a:xfrm>
            <a:off x="3822192" y="29809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Target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22192" y="329184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(RTL safe)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6811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68112" y="804672"/>
            <a:ext cx="1591056" cy="5029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8" name="Text 36"/>
          <p:cNvSpPr/>
          <p:nvPr/>
        </p:nvSpPr>
        <p:spPr>
          <a:xfrm>
            <a:off x="546811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FCP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5541264" y="13898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Contentful Paint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59552" y="2048256"/>
            <a:ext cx="1408176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5559552" y="20665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59552" y="2377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1.8s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559552" y="2962656"/>
            <a:ext cx="1408176" cy="91440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4" name="Text 42"/>
          <p:cNvSpPr/>
          <p:nvPr/>
        </p:nvSpPr>
        <p:spPr>
          <a:xfrm>
            <a:off x="5559552" y="29809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Target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59552" y="329184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1.2s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font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20547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05472" y="804672"/>
            <a:ext cx="1591056" cy="5029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48" name="Text 46"/>
          <p:cNvSpPr/>
          <p:nvPr/>
        </p:nvSpPr>
        <p:spPr>
          <a:xfrm>
            <a:off x="720547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TTFB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7278624" y="13898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Byte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296912" y="2048256"/>
            <a:ext cx="1408176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1" name="Text 49"/>
          <p:cNvSpPr/>
          <p:nvPr/>
        </p:nvSpPr>
        <p:spPr>
          <a:xfrm>
            <a:off x="7296912" y="20665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96912" y="2377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800ms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296912" y="2962656"/>
            <a:ext cx="1408176" cy="91440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4" name="Text 52"/>
          <p:cNvSpPr/>
          <p:nvPr/>
        </p:nvSpPr>
        <p:spPr>
          <a:xfrm>
            <a:off x="7296912" y="29809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Target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96912" y="329184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500ms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Bahrain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Saudi-Specific Compliance — PDPL · ZATCA · NCA ECC · MoE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4160520" cy="38404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8638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Saudi PDPL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on KSA/GCC servers (AWS Bahrain me-south-1)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Arabic consent banner for data collection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3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breach notification requirement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212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NDMO framework alignment documentation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786384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86384"/>
            <a:ext cx="4160520" cy="384048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78638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ZATCA Phase 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73168" y="1225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(فاتورة إلكترونية) on EVERY transaction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73168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invoice + QR code signed and linked to ZATCA portal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1883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Saudi VAT calculated and displayed at checkout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2212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VAT return integration (QuickBooks/Zoho KSA)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2779776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779776"/>
            <a:ext cx="4160520" cy="384048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7977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NCA ECC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3218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Authority Essential Controls compliance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547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pentest by CITC-licensed KSA cybersecurity firm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877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WAF + rate limiting on all Saudi-facing endpoints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mandatory for all school admin accounts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779776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779776"/>
            <a:ext cx="4160520" cy="384048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277977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MoE &amp; CITC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773168" y="3218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private school compliance templates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73168" y="3547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number displayed in site footer (required by Saudi law)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3877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CITC compliance for digital communication features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3168" y="4206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Absher ID API for premium school account verification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6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KSA Monetization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in SAR. Mada + STC Pay + Tamara BNPL. ZATCA VAT compliant. Ramadan + National Day campaigns.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KINGDOM OF SAUDI ARABIA  •  STRATEGY 2025–26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Revenue Streams — SAR Pricing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2011680" cy="73152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914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Starter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" y="12435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C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185/mo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" y="1755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 students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" y="2176272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450K ARR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32304" y="786384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32304" y="786384"/>
            <a:ext cx="2011680" cy="73152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5" name="Text 13"/>
          <p:cNvSpPr/>
          <p:nvPr/>
        </p:nvSpPr>
        <p:spPr>
          <a:xfrm>
            <a:off x="2505456" y="914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Growth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05456" y="12435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D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370/mo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05456" y="1755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≤100 students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05456" y="2176272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9" name="Text 17"/>
          <p:cNvSpPr/>
          <p:nvPr/>
        </p:nvSpPr>
        <p:spPr>
          <a:xfrm>
            <a:off x="2505456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900K ARR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08576" y="786384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786384"/>
            <a:ext cx="2011680" cy="7315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914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Enterprise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81728" y="12435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1,120/mo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81728" y="1755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176272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675K ARR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84848" y="786384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84848" y="786384"/>
            <a:ext cx="2011680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914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58000" y="12435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46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SAR 320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58000" y="1755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(AOV)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2176272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560K Rev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277977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2779776"/>
            <a:ext cx="2011680" cy="7315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" y="2907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Courses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29184" y="32369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109–745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29184" y="3749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online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" y="4169664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" y="4169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300K Rev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32304" y="277977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32304" y="2779776"/>
            <a:ext cx="2011680" cy="73152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43" name="Text 41"/>
          <p:cNvSpPr/>
          <p:nvPr/>
        </p:nvSpPr>
        <p:spPr>
          <a:xfrm>
            <a:off x="2505456" y="2907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Box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505456" y="32369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8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220/mo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2505456" y="3749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05456" y="4169664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7" name="Text 45"/>
          <p:cNvSpPr/>
          <p:nvPr/>
        </p:nvSpPr>
        <p:spPr>
          <a:xfrm>
            <a:off x="2505456" y="4169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225K ARR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08576" y="277977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08576" y="2779776"/>
            <a:ext cx="2011680" cy="7315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50" name="Text 48"/>
          <p:cNvSpPr/>
          <p:nvPr/>
        </p:nvSpPr>
        <p:spPr>
          <a:xfrm>
            <a:off x="4681728" y="2907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Service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681728" y="32369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9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1,875–7.5K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4681728" y="3749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school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81728" y="4169664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4" name="Text 52"/>
          <p:cNvSpPr/>
          <p:nvPr/>
        </p:nvSpPr>
        <p:spPr>
          <a:xfrm>
            <a:off x="4681728" y="4169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185K Rev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Payment Stack + Seasonal Revenue Campaigns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86384"/>
            <a:ext cx="411480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86384"/>
            <a:ext cx="4114800" cy="402336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8638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Saudi Payment Stack (Moyasar Gateway)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298448"/>
            <a:ext cx="3950208" cy="40233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3350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1335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national debit — 95% of Saudi bank accounts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1755648"/>
            <a:ext cx="3950208" cy="40233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7922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Pay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17922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wallet — 10M+ KSA users, instant payment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212848"/>
            <a:ext cx="3950208" cy="40233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249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2494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3-month interest-free — highest AOV uplift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670048"/>
            <a:ext cx="3950208" cy="40233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27066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27066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BNPL option — Riyadh, Jeddah, Dammam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127248"/>
            <a:ext cx="3950208" cy="40233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31638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60%+ KSA — one-tap Safari checkout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584448"/>
            <a:ext cx="3950208" cy="40233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" y="36210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IBAN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3621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annual SaaS subscriptions + school POs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041648"/>
            <a:ext cx="3950208" cy="40233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40782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40782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(Saudi Riyal) — primary. 15% VAT on all txns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786384"/>
            <a:ext cx="420624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786384"/>
            <a:ext cx="4206240" cy="402336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7863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Saudi Seasonal Campaigns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36592" y="1298448"/>
            <a:ext cx="4041648" cy="62179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4" name="Text 32"/>
          <p:cNvSpPr/>
          <p:nvPr/>
        </p:nvSpPr>
        <p:spPr>
          <a:xfrm>
            <a:off x="4809744" y="1335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Ramadan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9744" y="159105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discount — highest KSA purchase season.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+ Twitter ads from 3 days before.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36592" y="1975104"/>
            <a:ext cx="4041648" cy="62179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37" name="Text 35"/>
          <p:cNvSpPr/>
          <p:nvPr/>
        </p:nvSpPr>
        <p:spPr>
          <a:xfrm>
            <a:off x="4809744" y="2011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🇸🇦 National Day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9744" y="22677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23 — green/white campaign. Saudi-themed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and SaaS trial push.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36592" y="2651760"/>
            <a:ext cx="4041648" cy="62179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0" name="Text 38"/>
          <p:cNvSpPr/>
          <p:nvPr/>
        </p:nvSpPr>
        <p:spPr>
          <a:xfrm>
            <a:off x="4809744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 Back to School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9744" y="29443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— peak enrollment. Google.com.sa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ads + school kit bundles.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36592" y="3328416"/>
            <a:ext cx="4041648" cy="621792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3" name="Text 41"/>
          <p:cNvSpPr/>
          <p:nvPr/>
        </p:nvSpPr>
        <p:spPr>
          <a:xfrm>
            <a:off x="4809744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Founding Day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9744" y="36210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22 — growing shopping occasion since 2022.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education angle for Montessori.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36592" y="4005072"/>
            <a:ext cx="4041648" cy="62179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6" name="Text 44"/>
          <p:cNvSpPr/>
          <p:nvPr/>
        </p:nvSpPr>
        <p:spPr>
          <a:xfrm>
            <a:off x="4809744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Eid Campaigns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9744" y="42976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sets in SAR. Tamara BNPL promotion.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 for grandparent purchasing segment.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Implementation Roadmap — 5 Phases, 24 Months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PLATFORM  •  KSA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47088" y="1078992"/>
            <a:ext cx="14630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5603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1591056" cy="530352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804672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" y="14264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828800"/>
            <a:ext cx="14081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.sa domain, CR, ZATCA registration, Arabic RTL site, WhatsApp Business API, GSC KSA, PDPL 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84448" y="1078992"/>
            <a:ext cx="14630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99339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804672"/>
            <a:ext cx="1591056" cy="530352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15" name="Text 13"/>
          <p:cNvSpPr/>
          <p:nvPr/>
        </p:nvSpPr>
        <p:spPr>
          <a:xfrm>
            <a:off x="1993392" y="804672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66544" y="14264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MVP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1828800"/>
            <a:ext cx="14081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admin dashboard, Saudi ID fields, Montessori curriculum, Moyasar billing, PDPL-compliant on AWS Bahrain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21808" y="1078992"/>
            <a:ext cx="14630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73075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0752" y="804672"/>
            <a:ext cx="1591056" cy="53035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1" name="Text 19"/>
          <p:cNvSpPr/>
          <p:nvPr/>
        </p:nvSpPr>
        <p:spPr>
          <a:xfrm>
            <a:off x="3730752" y="804672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03904" y="14264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E-Commerce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22192" y="1828800"/>
            <a:ext cx="14081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store, ZATCA checkout, Tamara BNPL, Aramex KSA shipping, 100+ SAR-priced products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59168" y="1078992"/>
            <a:ext cx="14630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6811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68112" y="804672"/>
            <a:ext cx="1591056" cy="53035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27" name="Text 25"/>
          <p:cNvSpPr/>
          <p:nvPr/>
        </p:nvSpPr>
        <p:spPr>
          <a:xfrm>
            <a:off x="5468112" y="804672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41264" y="14264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Expansion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59552" y="1828800"/>
            <a:ext cx="14081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Riyadh/Jeddah/Dammam/Makkah/Madinah pages, Snapchat geo-ads, WhatsApp review campaign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05472" y="804672"/>
            <a:ext cx="1591056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05472" y="804672"/>
            <a:ext cx="1591056" cy="53035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32" name="Text 30"/>
          <p:cNvSpPr/>
          <p:nvPr/>
        </p:nvSpPr>
        <p:spPr>
          <a:xfrm>
            <a:off x="7205472" y="804672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78624" y="14264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Vision 2030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96912" y="1828800"/>
            <a:ext cx="14081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Arabic curriculum AI, Vision 2030 competency reports, MoE partnership, school chain franchise model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4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4008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المملكة العربية السعودية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المنصة الوحيدة المونتيسورية المتكاملة.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2743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KSA-Native  •  ar-sa SEO  •  PDPL + ZATCA Compliant  •  Mada + STC Pay + Tamara  •  Vision 2030 Aligned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3429000"/>
            <a:ext cx="1572768" cy="43891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4290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School ✅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12264" y="3429000"/>
            <a:ext cx="1572768" cy="43891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9" name="Text 7"/>
          <p:cNvSpPr/>
          <p:nvPr/>
        </p:nvSpPr>
        <p:spPr>
          <a:xfrm>
            <a:off x="2112264" y="34290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SaaS 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13048" y="3429000"/>
            <a:ext cx="1572768" cy="43891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11" name="Text 9"/>
          <p:cNvSpPr/>
          <p:nvPr/>
        </p:nvSpPr>
        <p:spPr>
          <a:xfrm>
            <a:off x="3813048" y="34290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E-Commerce 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13832" y="3429000"/>
            <a:ext cx="1572768" cy="43891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13" name="Text 11"/>
          <p:cNvSpPr/>
          <p:nvPr/>
        </p:nvSpPr>
        <p:spPr>
          <a:xfrm>
            <a:off x="5513832" y="34290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ar-sa SEO 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14616" y="3429000"/>
            <a:ext cx="1572768" cy="438912"/>
          </a:xfrm>
          <a:prstGeom prst="rect">
            <a:avLst/>
          </a:prstGeom>
          <a:solidFill>
            <a:srgbClr val="C09400"/>
          </a:solidFill>
          <a:ln/>
        </p:spPr>
      </p:sp>
      <p:sp>
        <p:nvSpPr>
          <p:cNvPr id="15" name="Text 13"/>
          <p:cNvSpPr/>
          <p:nvPr/>
        </p:nvSpPr>
        <p:spPr>
          <a:xfrm>
            <a:off x="7214616" y="34290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PDPL+ZATCA ✅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44398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Montessori Hybrid Platform — KSA Edition  •  Confidential &amp; Proprietary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lobal Competitors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HdrTxt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</a:rPr>
              <a:t>Global Montessori SaaS Competitors — Top 7 Platforms</a:t>
            </a:r>
          </a:p>
        </p:txBody>
      </p:sp>
      <p:sp>
        <p:nvSpPr>
          <p:cNvPr id="4" name="FtrBg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5" name="FtrTxt"/>
          <p:cNvSpPr/>
          <p:nvPr/>
        </p:nvSpPr>
        <p:spPr>
          <a:xfrm>
            <a:off x="274320" y="4772880"/>
            <a:ext cx="8595360" cy="34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MONTESSORI PLATFORM  •  GLOBAL COMPETITOR ANALYSIS 2025-26</a:t>
            </a:r>
          </a:p>
        </p:txBody>
      </p:sp>
      <p:sp>
        <p:nvSpPr>
          <p:cNvPr id="6" name="Sub"/>
          <p:cNvSpPr/>
          <p:nvPr/>
        </p:nvSpPr>
        <p:spPr>
          <a:xfrm>
            <a:off x="274320" y="670000"/>
            <a:ext cx="8595360" cy="17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</a:rPr>
              <a:t>Each platform is strong in its home market — none can operate natively in the Kingdom of Saudi Arabia.</a:t>
            </a:r>
          </a:p>
        </p:txBody>
      </p:sp>
      <p:sp>
        <p:nvSpPr>
          <p:cNvPr id="7" name="CB7"/>
          <p:cNvSpPr/>
          <p:nvPr/>
        </p:nvSpPr>
        <p:spPr>
          <a:xfrm>
            <a:off x="274320" y="87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CA8"/>
          <p:cNvSpPr/>
          <p:nvPr/>
        </p:nvSpPr>
        <p:spPr>
          <a:xfrm>
            <a:off x="274320" y="870000"/>
            <a:ext cx="4100000" cy="24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CT9"/>
          <p:cNvSpPr/>
          <p:nvPr/>
        </p:nvSpPr>
        <p:spPr>
          <a:xfrm>
            <a:off x="320040" y="89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Brightwheel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San Francisco, USA  |  Est. 2014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No. 1 US childcare app — rich billing, messaging, Montessori curriculum bank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USD only — no Arabic/RTL — not on Saudi App Store — no ZATCA/PDPL</a:t>
            </a:r>
          </a:p>
        </p:txBody>
      </p:sp>
      <p:sp>
        <p:nvSpPr>
          <p:cNvPr id="10" name="CB10"/>
          <p:cNvSpPr/>
          <p:nvPr/>
        </p:nvSpPr>
        <p:spPr>
          <a:xfrm>
            <a:off x="4769680" y="87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CA11"/>
          <p:cNvSpPr/>
          <p:nvPr/>
        </p:nvSpPr>
        <p:spPr>
          <a:xfrm>
            <a:off x="4769680" y="870000"/>
            <a:ext cx="4100000" cy="240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2" name="CT12"/>
          <p:cNvSpPr/>
          <p:nvPr/>
        </p:nvSpPr>
        <p:spPr>
          <a:xfrm>
            <a:off x="4815400" y="89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illumine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Singapore / Global  |  Est. 2017  |  AI-powered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AI-powered; partnered with Guidepost Montessori (80+ schools); strong automation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English only — no Arabic UI — no MENA compliance — no KSA payment stack</a:t>
            </a:r>
          </a:p>
        </p:txBody>
      </p:sp>
      <p:sp>
        <p:nvSpPr>
          <p:cNvPr id="13" name="CB13"/>
          <p:cNvSpPr/>
          <p:nvPr/>
        </p:nvSpPr>
        <p:spPr>
          <a:xfrm>
            <a:off x="274320" y="152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CA14"/>
          <p:cNvSpPr/>
          <p:nvPr/>
        </p:nvSpPr>
        <p:spPr>
          <a:xfrm>
            <a:off x="274320" y="1520000"/>
            <a:ext cx="4100000" cy="24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CT15"/>
          <p:cNvSpPr/>
          <p:nvPr/>
        </p:nvSpPr>
        <p:spPr>
          <a:xfrm>
            <a:off x="320040" y="154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Transparent Classroom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Portland, USA  |  Est. 2011  |  Montessori-specialist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Best-in-class Montessori portfolio and observation tool — trusted by 2,000+ schools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Portfolio only — no billing, enrollment, parent app, or MENA support whatsoever</a:t>
            </a:r>
          </a:p>
        </p:txBody>
      </p:sp>
      <p:sp>
        <p:nvSpPr>
          <p:cNvPr id="16" name="CB16"/>
          <p:cNvSpPr/>
          <p:nvPr/>
        </p:nvSpPr>
        <p:spPr>
          <a:xfrm>
            <a:off x="4769680" y="152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CA17"/>
          <p:cNvSpPr/>
          <p:nvPr/>
        </p:nvSpPr>
        <p:spPr>
          <a:xfrm>
            <a:off x="4769680" y="1520000"/>
            <a:ext cx="4100000" cy="24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CT18"/>
          <p:cNvSpPr/>
          <p:nvPr/>
        </p:nvSpPr>
        <p:spPr>
          <a:xfrm>
            <a:off x="4815400" y="154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Procare Solutions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USA  |  Est. 1992  |  Enterprise childcare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Robust admin, billing and compliance for large childcare chains since 1992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Steep learning curve — $129+/mo USD — not Montessori-native — zero MENA localisation</a:t>
            </a:r>
          </a:p>
        </p:txBody>
      </p:sp>
      <p:sp>
        <p:nvSpPr>
          <p:cNvPr id="19" name="CB19"/>
          <p:cNvSpPr/>
          <p:nvPr/>
        </p:nvSpPr>
        <p:spPr>
          <a:xfrm>
            <a:off x="274320" y="217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CA20"/>
          <p:cNvSpPr/>
          <p:nvPr/>
        </p:nvSpPr>
        <p:spPr>
          <a:xfrm>
            <a:off x="274320" y="2170000"/>
            <a:ext cx="4100000" cy="24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CT21"/>
          <p:cNvSpPr/>
          <p:nvPr/>
        </p:nvSpPr>
        <p:spPr>
          <a:xfrm>
            <a:off x="320040" y="219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HiMama / Lillio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Toronto, Canada  |  Est. 2012  |  Parent engagement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Strong daily reports, milestone tracking and photo/video sharing for parents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No lead management — no lesson planning — no Montessori curriculum — no MENA stack</a:t>
            </a:r>
          </a:p>
        </p:txBody>
      </p:sp>
      <p:sp>
        <p:nvSpPr>
          <p:cNvPr id="22" name="CB22"/>
          <p:cNvSpPr/>
          <p:nvPr/>
        </p:nvSpPr>
        <p:spPr>
          <a:xfrm>
            <a:off x="4769680" y="217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CA23"/>
          <p:cNvSpPr/>
          <p:nvPr/>
        </p:nvSpPr>
        <p:spPr>
          <a:xfrm>
            <a:off x="4769680" y="2170000"/>
            <a:ext cx="4100000" cy="2400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24" name="CT24"/>
          <p:cNvSpPr/>
          <p:nvPr/>
        </p:nvSpPr>
        <p:spPr>
          <a:xfrm>
            <a:off x="4815400" y="219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Daily Connect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USA  |  Est. 2011  |  Montessori activities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+ 270+ Montessori activities (ages 0-6) across all 5 areas of learning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No SaaS billing — no ZATCA — no Arabic UI — very limited school admin features</a:t>
            </a:r>
          </a:p>
        </p:txBody>
      </p:sp>
      <p:sp>
        <p:nvSpPr>
          <p:cNvPr id="25" name="CB25"/>
          <p:cNvSpPr/>
          <p:nvPr/>
        </p:nvSpPr>
        <p:spPr>
          <a:xfrm>
            <a:off x="2522000" y="282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CA26"/>
          <p:cNvSpPr/>
          <p:nvPr/>
        </p:nvSpPr>
        <p:spPr>
          <a:xfrm>
            <a:off x="2522000" y="2820000"/>
            <a:ext cx="4100000" cy="240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7" name="CT27"/>
          <p:cNvSpPr/>
          <p:nvPr/>
        </p:nvSpPr>
        <p:spPr>
          <a:xfrm>
            <a:off x="2567720" y="284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Famly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London, UK  |  Est. 2013  |  UK/EU nurseries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Modern nursery UX — GDPR-compliant — strong UK/EU presence and regulatory fit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UK/EU only — zero MENA presence — no Arabic — no Saudi compliance stack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Privilege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HdrTxt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</a:rPr>
              <a:t>Our Competitive Privilege — Why We Win Against Every Competitor</a:t>
            </a:r>
          </a:p>
        </p:txBody>
      </p:sp>
      <p:sp>
        <p:nvSpPr>
          <p:cNvPr id="4" name="FtrBg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5" name="FtrTxt"/>
          <p:cNvSpPr/>
          <p:nvPr/>
        </p:nvSpPr>
        <p:spPr>
          <a:xfrm>
            <a:off x="274320" y="4772880"/>
            <a:ext cx="8595360" cy="34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MONTESSORI PLATFORM  •  ZERO COMPETITORS MATCH OUR KSA-NATIVE STACK</a:t>
            </a:r>
          </a:p>
        </p:txBody>
      </p:sp>
      <p:sp>
        <p:nvSpPr>
          <p:cNvPr id="6" name="Sub"/>
          <p:cNvSpPr/>
          <p:nvPr/>
        </p:nvSpPr>
        <p:spPr>
          <a:xfrm>
            <a:off x="274320" y="670000"/>
            <a:ext cx="8595360" cy="17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</a:rPr>
              <a:t>No global competitor combines all seven pillars below. This is our unfair, structural, first-mover advantage in Saudi Arabia.</a:t>
            </a:r>
          </a:p>
        </p:txBody>
      </p:sp>
      <p:sp>
        <p:nvSpPr>
          <p:cNvPr id="7" name="AB7"/>
          <p:cNvSpPr/>
          <p:nvPr/>
        </p:nvSpPr>
        <p:spPr>
          <a:xfrm>
            <a:off x="274320" y="870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AL8"/>
          <p:cNvSpPr/>
          <p:nvPr/>
        </p:nvSpPr>
        <p:spPr>
          <a:xfrm>
            <a:off x="274320" y="870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9" name="AT9"/>
          <p:cNvSpPr/>
          <p:nvPr/>
        </p:nvSpPr>
        <p:spPr>
          <a:xfrm>
            <a:off x="329320" y="888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Brightwheel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Arabic RTL + Mada/STC Pay/Tamara + ZATCA VAT + 3-in-1 School-SaaS-Store. Brightwheel is a billing app; we are a full KSA education platform.</a:t>
            </a:r>
          </a:p>
        </p:txBody>
      </p:sp>
      <p:sp>
        <p:nvSpPr>
          <p:cNvPr id="10" name="AB10"/>
          <p:cNvSpPr/>
          <p:nvPr/>
        </p:nvSpPr>
        <p:spPr>
          <a:xfrm>
            <a:off x="4669680" y="870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AL11"/>
          <p:cNvSpPr/>
          <p:nvPr/>
        </p:nvSpPr>
        <p:spPr>
          <a:xfrm>
            <a:off x="4669680" y="870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2" name="AT12"/>
          <p:cNvSpPr/>
          <p:nvPr/>
        </p:nvSpPr>
        <p:spPr>
          <a:xfrm>
            <a:off x="4724680" y="888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illumine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PDPL/ZATCA compliance + WhatsApp/Snapchat native + SAR pricing + full KSA regulatory stack. illumine is English-only with no MENA presence.</a:t>
            </a:r>
          </a:p>
        </p:txBody>
      </p:sp>
      <p:sp>
        <p:nvSpPr>
          <p:cNvPr id="13" name="AB13"/>
          <p:cNvSpPr/>
          <p:nvPr/>
        </p:nvSpPr>
        <p:spPr>
          <a:xfrm>
            <a:off x="274320" y="1382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AL14"/>
          <p:cNvSpPr/>
          <p:nvPr/>
        </p:nvSpPr>
        <p:spPr>
          <a:xfrm>
            <a:off x="274320" y="1382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5" name="AT15"/>
          <p:cNvSpPr/>
          <p:nvPr/>
        </p:nvSpPr>
        <p:spPr>
          <a:xfrm>
            <a:off x="329320" y="1400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Transparent Classroom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billing, enrollment, e-commerce, parent comms and school admin. Transparent Classroom is a portfolio tool; we are a complete operating system.</a:t>
            </a:r>
          </a:p>
        </p:txBody>
      </p:sp>
      <p:sp>
        <p:nvSpPr>
          <p:cNvPr id="16" name="AB16"/>
          <p:cNvSpPr/>
          <p:nvPr/>
        </p:nvSpPr>
        <p:spPr>
          <a:xfrm>
            <a:off x="4669680" y="1382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AL17"/>
          <p:cNvSpPr/>
          <p:nvPr/>
        </p:nvSpPr>
        <p:spPr>
          <a:xfrm>
            <a:off x="4669680" y="1382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8" name="AT18"/>
          <p:cNvSpPr/>
          <p:nvPr/>
        </p:nvSpPr>
        <p:spPr>
          <a:xfrm>
            <a:off x="4724680" y="1400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Procare Solutions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Montessori-native curriculum + Arabic UI + affordable SAR tiers + zero steep onboarding. Procare is a generic US childcare ERP at US prices.</a:t>
            </a:r>
          </a:p>
        </p:txBody>
      </p:sp>
      <p:sp>
        <p:nvSpPr>
          <p:cNvPr id="19" name="AB19"/>
          <p:cNvSpPr/>
          <p:nvPr/>
        </p:nvSpPr>
        <p:spPr>
          <a:xfrm>
            <a:off x="274320" y="1894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AL20"/>
          <p:cNvSpPr/>
          <p:nvPr/>
        </p:nvSpPr>
        <p:spPr>
          <a:xfrm>
            <a:off x="274320" y="1894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21" name="AT21"/>
          <p:cNvSpPr/>
          <p:nvPr/>
        </p:nvSpPr>
        <p:spPr>
          <a:xfrm>
            <a:off x="329320" y="1912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HiMama / Lillio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lead management + lesson planning + Montessori curriculum + full MENA compliance. Lillio is a parent-report tool, not a school management platform.</a:t>
            </a:r>
          </a:p>
        </p:txBody>
      </p:sp>
      <p:sp>
        <p:nvSpPr>
          <p:cNvPr id="22" name="AB22"/>
          <p:cNvSpPr/>
          <p:nvPr/>
        </p:nvSpPr>
        <p:spPr>
          <a:xfrm>
            <a:off x="4669680" y="1894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AL23"/>
          <p:cNvSpPr/>
          <p:nvPr/>
        </p:nvSpPr>
        <p:spPr>
          <a:xfrm>
            <a:off x="4669680" y="1894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24" name="AT24"/>
          <p:cNvSpPr/>
          <p:nvPr/>
        </p:nvSpPr>
        <p:spPr>
          <a:xfrm>
            <a:off x="4724680" y="1912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Daily Connect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full SaaS billing, ZATCA invoicing, Arabic interface and complete school admin on top of the activities catalogue. Daily Connect stops at content.</a:t>
            </a:r>
          </a:p>
        </p:txBody>
      </p:sp>
      <p:sp>
        <p:nvSpPr>
          <p:cNvPr id="25" name="AB25"/>
          <p:cNvSpPr/>
          <p:nvPr/>
        </p:nvSpPr>
        <p:spPr>
          <a:xfrm>
            <a:off x="2472000" y="2406000"/>
            <a:ext cx="4200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26" name="AL26"/>
          <p:cNvSpPr/>
          <p:nvPr/>
        </p:nvSpPr>
        <p:spPr>
          <a:xfrm>
            <a:off x="2472000" y="2406000"/>
            <a:ext cx="22000" cy="480000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7" name="AT27"/>
          <p:cNvSpPr/>
          <p:nvPr/>
        </p:nvSpPr>
        <p:spPr>
          <a:xfrm>
            <a:off x="2527000" y="2424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A5D6A7"/>
                </a:solidFill>
                <a:latin typeface="Calibri" pitchFamily="34" charset="0"/>
              </a:rPr>
              <a:t>✅  vs ALL Competitors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</a:rPr>
              <a:t>We are the ONLY platform with: School + SaaS + E-Commerce in one brand, built native for KSA — with PDPL, ZATCA, Mada, STC Pay, Tamara and Arabic RTL.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Montessori Platform — KSA Website Strategy 2025-26</dc:title>
  <dc:subject>PptxGenJS Presentation</dc:subject>
  <dc:creator>Montessori Platform KSA</dc:creator>
  <cp:lastModifiedBy>Montessori Platform KSA</cp:lastModifiedBy>
  <cp:revision>1</cp:revision>
  <dcterms:created xsi:type="dcterms:W3CDTF">2026-05-19T12:57:00Z</dcterms:created>
  <dcterms:modified xsi:type="dcterms:W3CDTF">2026-05-19T12:57:00Z</dcterms:modified>
</cp:coreProperties>
</file>