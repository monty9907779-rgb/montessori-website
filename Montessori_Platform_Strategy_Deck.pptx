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3" r:id="rId34"/>
    <p:sldId id="284" r:id="rId35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MONTESSORI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PLATFORM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Strategy Plan  |  School · SaaS · E-Commerce  |  MENA-First, Global-Ready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3429000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429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CONFIDENTIAL  •  MAY 2026  •  STRATEGY v1.0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What This Deck Covers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749808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475488" cy="7498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686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9235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Vision &amp; Three Pillars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114800" cy="749808"/>
          </a:xfrm>
          <a:prstGeom prst="rect">
            <a:avLst/>
          </a:prstGeom>
          <a:solidFill>
            <a:srgbClr val="F1F8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83080"/>
            <a:ext cx="475488" cy="7498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830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18379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SaaS Benchmarks (7 Global Leaders)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114800" cy="749808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97480"/>
            <a:ext cx="475488" cy="7498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6974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32688" y="27523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&amp; Our Advantages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4114800" cy="749808"/>
          </a:xfrm>
          <a:prstGeom prst="rect">
            <a:avLst/>
          </a:prstGeom>
          <a:solidFill>
            <a:srgbClr val="F1F8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11880"/>
            <a:ext cx="475488" cy="7498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6118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32688" y="36667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Architecture &amp; Feature Map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46320" y="868680"/>
            <a:ext cx="4114800" cy="749808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868680"/>
            <a:ext cx="475488" cy="7498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8686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413248" y="9235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Geo Strategy — Arabic MENA + Global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46320" y="1783080"/>
            <a:ext cx="4114800" cy="749808"/>
          </a:xfrm>
          <a:prstGeom prst="rect">
            <a:avLst/>
          </a:prstGeom>
          <a:solidFill>
            <a:srgbClr val="F1F8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783080"/>
            <a:ext cx="475488" cy="7498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7830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413248" y="18379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Audit Requirements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46320" y="2697480"/>
            <a:ext cx="4114800" cy="749808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697480"/>
            <a:ext cx="475488" cy="7498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6974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413248" y="27523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Model &amp; Revenue Targets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846320" y="3611880"/>
            <a:ext cx="4114800" cy="749808"/>
          </a:xfrm>
          <a:prstGeom prst="rect">
            <a:avLst/>
          </a:prstGeom>
          <a:solidFill>
            <a:srgbClr val="F1F8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611880"/>
            <a:ext cx="475488" cy="7498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6118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413248" y="36667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&amp; Tech Stack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Vision &amp; Three Pillars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brand. Three revenue engines. Zero market rivals in Arabic MENA.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Vision — Three Integrated Pillars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Montessori platform combining a school presence, SaaS management suite, and certified materials store — native Arabic, MENA-first.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27432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08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🏫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2128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presence, enrollment funnels, program showcase &amp; parent trust-building for Montessori schools across MENA.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64408" y="1389888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389888"/>
            <a:ext cx="27432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1508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55848" y="22128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01568" y="26974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management tool: curriculum tracking, observation logs, parent portals, billing &amp; AI-powered reporting.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08776" y="1389888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1389888"/>
            <a:ext cx="2743200" cy="73152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508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🛒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300216" y="22128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45936" y="26974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store for AMI/AMS-certified materials, digital curricula &amp; online courses — shipped across the GCC.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Success Metrics — What We're Building Toward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2651760" cy="160020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950976"/>
            <a:ext cx="265176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50K+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769364"/>
            <a:ext cx="26517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Visitors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841248"/>
            <a:ext cx="2651760" cy="160020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950976"/>
            <a:ext cx="265176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0" y="1769364"/>
            <a:ext cx="26517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Enrollments/Year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841248"/>
            <a:ext cx="2651760" cy="1600200"/>
          </a:xfrm>
          <a:prstGeom prst="rect">
            <a:avLst/>
          </a:prstGeom>
          <a:solidFill>
            <a:srgbClr val="2632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950976"/>
            <a:ext cx="265176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1769364"/>
            <a:ext cx="26517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Trial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Signups/Month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670048"/>
            <a:ext cx="2651760" cy="1600200"/>
          </a:xfrm>
          <a:prstGeom prst="rect">
            <a:avLst/>
          </a:prstGeom>
          <a:solidFill>
            <a:srgbClr val="F9A82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2779776"/>
            <a:ext cx="265176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$880K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0040" y="3598164"/>
            <a:ext cx="26517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Revenue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2670048"/>
            <a:ext cx="2651760" cy="1600200"/>
          </a:xfrm>
          <a:prstGeom prst="rect">
            <a:avLst/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2779776"/>
            <a:ext cx="265176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&lt;2.5s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200400" y="3598164"/>
            <a:ext cx="26517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LCP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2670048"/>
            <a:ext cx="2651760" cy="1600200"/>
          </a:xfrm>
          <a:prstGeom prst="rect">
            <a:avLst/>
          </a:prstGeom>
          <a:solidFill>
            <a:srgbClr val="3747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80760" y="2779776"/>
            <a:ext cx="265176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WCAG 2.2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080760" y="3598164"/>
            <a:ext cx="26517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World-Class SaaS Benchmarks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global leaders studied. Their best practices adopted into every page we build.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SaaS Benchmarks — 7 Leaders, 7 Lessons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2011680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243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Outcome-First Storytelling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536192"/>
            <a:ext cx="1828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workflows, not features. 'How schools use our platform' sections for every role.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2304" y="804672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32304" y="804672"/>
            <a:ext cx="2011680" cy="64008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3" name="Text 11"/>
          <p:cNvSpPr/>
          <p:nvPr/>
        </p:nvSpPr>
        <p:spPr>
          <a:xfrm>
            <a:off x="2523744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23744" y="1243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Clarity + Trust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23744" y="1536192"/>
            <a:ext cx="1828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calm hero. Real UI screenshots. Transparent pricing. Developer trust through simplicity.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804672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804672"/>
            <a:ext cx="2011680" cy="6400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8" name="Text 16"/>
          <p:cNvSpPr/>
          <p:nvPr/>
        </p:nvSpPr>
        <p:spPr>
          <a:xfrm>
            <a:off x="4700016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0016" y="1243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Signalling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0016" y="1536192"/>
            <a:ext cx="1828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Sub-100ms interactions. Keyboard shortcuts visible. Dark mode. Every choice = speed &amp; precision.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84848" y="804672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84848" y="804672"/>
            <a:ext cx="2011680" cy="6400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Text 21"/>
          <p:cNvSpPr/>
          <p:nvPr/>
        </p:nvSpPr>
        <p:spPr>
          <a:xfrm>
            <a:off x="6876288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Webflow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76288" y="1243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Audience-Forked Nav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76288" y="1536192"/>
            <a:ext cx="1828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splits by role: School Admin | Educator | Parent | Buyer — routes visitors instantly.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27432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743200"/>
            <a:ext cx="2011680" cy="640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Zero-Commitment Demo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472" y="3474720"/>
            <a:ext cx="1828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product experience before sign-up. Highest SaaS conversion technique known.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32304" y="27432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32304" y="2743200"/>
            <a:ext cx="201168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3" name="Text 31"/>
          <p:cNvSpPr/>
          <p:nvPr/>
        </p:nvSpPr>
        <p:spPr>
          <a:xfrm>
            <a:off x="2523744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23744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Content-Led Flywheel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23744" y="3474720"/>
            <a:ext cx="1828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 + resource hub → email nurture → paid upgrade. Drives 70%+ of new customers.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08576" y="27432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08576" y="2743200"/>
            <a:ext cx="2011680" cy="640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8" name="Text 36"/>
          <p:cNvSpPr/>
          <p:nvPr/>
        </p:nvSpPr>
        <p:spPr>
          <a:xfrm>
            <a:off x="4700016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00016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Trust-First Commerce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0016" y="3474720"/>
            <a:ext cx="1828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counts, certification badges, money-back guarantees visible at every purchase point.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Conversion Benchmarks — What Top Platforms Achieve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926080" cy="43891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804672"/>
            <a:ext cx="1737360" cy="43891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80467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804672"/>
            <a:ext cx="1737360" cy="43891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80467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SaaS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804672"/>
            <a:ext cx="1920240" cy="43891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8046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261872"/>
            <a:ext cx="2926080" cy="594360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2618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→ Paid Conversion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261872"/>
            <a:ext cx="1737360" cy="594360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2618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83480" y="1261872"/>
            <a:ext cx="1737360" cy="594360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2618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37.5%+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0840" y="1261872"/>
            <a:ext cx="1920240" cy="59436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2618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25%+ (Our Target)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1901952"/>
            <a:ext cx="2926080" cy="5943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190195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→ Trial CTR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1901952"/>
            <a:ext cx="1737360" cy="5943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190195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~2.3%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1901952"/>
            <a:ext cx="1737360" cy="5943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90195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8%+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20840" y="1901952"/>
            <a:ext cx="1920240" cy="59436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190195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5%+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2542032"/>
            <a:ext cx="2926080" cy="594360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5420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Value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46120" y="2542032"/>
            <a:ext cx="1737360" cy="594360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25420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83480" y="2542032"/>
            <a:ext cx="1737360" cy="594360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25420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20840" y="2542032"/>
            <a:ext cx="1920240" cy="59436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25420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3182112"/>
            <a:ext cx="2926080" cy="5943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1821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Page Conversion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46120" y="3182112"/>
            <a:ext cx="1737360" cy="5943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1" name="Text 39"/>
          <p:cNvSpPr/>
          <p:nvPr/>
        </p:nvSpPr>
        <p:spPr>
          <a:xfrm>
            <a:off x="3291840" y="318211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983480" y="3182112"/>
            <a:ext cx="1737360" cy="5943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318211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12%+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720840" y="3182112"/>
            <a:ext cx="1920240" cy="59436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3182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10%+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0040" y="3822192"/>
            <a:ext cx="2926080" cy="594360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38221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Activation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46120" y="3822192"/>
            <a:ext cx="1737360" cy="594360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49" name="Text 47"/>
          <p:cNvSpPr/>
          <p:nvPr/>
        </p:nvSpPr>
        <p:spPr>
          <a:xfrm>
            <a:off x="3291840" y="38221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983480" y="3822192"/>
            <a:ext cx="1737360" cy="594360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0" y="38221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50%+*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720840" y="3822192"/>
            <a:ext cx="1920240" cy="59436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53" name="Text 51"/>
          <p:cNvSpPr/>
          <p:nvPr/>
        </p:nvSpPr>
        <p:spPr>
          <a:xfrm>
            <a:off x="6766560" y="382219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45%+ (with video)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20040" y="44622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With video or animated content in onboarding flow  |  Source: userpilot, madx.digital, grafit.agency (2025–26)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platform combines School + SaaS + E-Commerce in native Arabic. That gap is our market.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 — Montessori Platform Market 2025-26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786384"/>
            <a:ext cx="1920240" cy="402336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7863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76272" y="786384"/>
            <a:ext cx="1234440" cy="402336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2176272" y="78638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Mgmt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786384"/>
            <a:ext cx="1234440" cy="402336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78638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5152" y="786384"/>
            <a:ext cx="1234440" cy="402336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78638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Arabic/MENA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79592" y="786384"/>
            <a:ext cx="1234440" cy="402336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5879592" y="78638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14032" y="786384"/>
            <a:ext cx="1920240" cy="402336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Text 15"/>
          <p:cNvSpPr/>
          <p:nvPr/>
        </p:nvSpPr>
        <p:spPr>
          <a:xfrm>
            <a:off x="7114032" y="7863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Weakness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1207008"/>
            <a:ext cx="19202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" y="12070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Compass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76272" y="1207008"/>
            <a:ext cx="12344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1" name="Text 19"/>
          <p:cNvSpPr/>
          <p:nvPr/>
        </p:nvSpPr>
        <p:spPr>
          <a:xfrm>
            <a:off x="2221992" y="120700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Strong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10712" y="1207008"/>
            <a:ext cx="12344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3" name="Text 21"/>
          <p:cNvSpPr/>
          <p:nvPr/>
        </p:nvSpPr>
        <p:spPr>
          <a:xfrm>
            <a:off x="3456432" y="120700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45152" y="1207008"/>
            <a:ext cx="12344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5" name="Text 23"/>
          <p:cNvSpPr/>
          <p:nvPr/>
        </p:nvSpPr>
        <p:spPr>
          <a:xfrm>
            <a:off x="4690872" y="120700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79592" y="1207008"/>
            <a:ext cx="12344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7" name="Text 25"/>
          <p:cNvSpPr/>
          <p:nvPr/>
        </p:nvSpPr>
        <p:spPr>
          <a:xfrm>
            <a:off x="5925312" y="120700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14032" y="1207008"/>
            <a:ext cx="19202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9" name="Text 27"/>
          <p:cNvSpPr/>
          <p:nvPr/>
        </p:nvSpPr>
        <p:spPr>
          <a:xfrm>
            <a:off x="7159752" y="12070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only, no store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1755648"/>
            <a:ext cx="192024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1" name="Text 29"/>
          <p:cNvSpPr/>
          <p:nvPr/>
        </p:nvSpPr>
        <p:spPr>
          <a:xfrm>
            <a:off x="301752" y="17556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Brightwheel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76272" y="1755648"/>
            <a:ext cx="123444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2221992" y="175564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Strong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10712" y="1755648"/>
            <a:ext cx="123444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5" name="Text 33"/>
          <p:cNvSpPr/>
          <p:nvPr/>
        </p:nvSpPr>
        <p:spPr>
          <a:xfrm>
            <a:off x="3456432" y="175564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45152" y="1755648"/>
            <a:ext cx="123444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7" name="Text 35"/>
          <p:cNvSpPr/>
          <p:nvPr/>
        </p:nvSpPr>
        <p:spPr>
          <a:xfrm>
            <a:off x="4690872" y="175564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79592" y="1755648"/>
            <a:ext cx="123444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925312" y="175564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14032" y="1755648"/>
            <a:ext cx="192024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1" name="Text 39"/>
          <p:cNvSpPr/>
          <p:nvPr/>
        </p:nvSpPr>
        <p:spPr>
          <a:xfrm>
            <a:off x="7159752" y="17556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Montessori-specific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6032" y="2304288"/>
            <a:ext cx="19202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43" name="Text 41"/>
          <p:cNvSpPr/>
          <p:nvPr/>
        </p:nvSpPr>
        <p:spPr>
          <a:xfrm>
            <a:off x="301752" y="23042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Classroom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176272" y="2304288"/>
            <a:ext cx="12344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45" name="Text 43"/>
          <p:cNvSpPr/>
          <p:nvPr/>
        </p:nvSpPr>
        <p:spPr>
          <a:xfrm>
            <a:off x="2221992" y="230428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10712" y="2304288"/>
            <a:ext cx="12344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47" name="Text 45"/>
          <p:cNvSpPr/>
          <p:nvPr/>
        </p:nvSpPr>
        <p:spPr>
          <a:xfrm>
            <a:off x="3456432" y="230428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45152" y="2304288"/>
            <a:ext cx="12344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49" name="Text 47"/>
          <p:cNvSpPr/>
          <p:nvPr/>
        </p:nvSpPr>
        <p:spPr>
          <a:xfrm>
            <a:off x="4690872" y="230428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79592" y="2304288"/>
            <a:ext cx="12344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51" name="Text 49"/>
          <p:cNvSpPr/>
          <p:nvPr/>
        </p:nvSpPr>
        <p:spPr>
          <a:xfrm>
            <a:off x="5925312" y="230428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14032" y="2304288"/>
            <a:ext cx="19202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53" name="Text 51"/>
          <p:cNvSpPr/>
          <p:nvPr/>
        </p:nvSpPr>
        <p:spPr>
          <a:xfrm>
            <a:off x="7159752" y="23042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billing, no Arabic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56032" y="2852928"/>
            <a:ext cx="192024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5" name="Text 53"/>
          <p:cNvSpPr/>
          <p:nvPr/>
        </p:nvSpPr>
        <p:spPr>
          <a:xfrm>
            <a:off x="301752" y="28529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SchoolCues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176272" y="2852928"/>
            <a:ext cx="123444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2221992" y="285292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410712" y="2852928"/>
            <a:ext cx="123444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9" name="Text 57"/>
          <p:cNvSpPr/>
          <p:nvPr/>
        </p:nvSpPr>
        <p:spPr>
          <a:xfrm>
            <a:off x="3456432" y="285292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645152" y="2852928"/>
            <a:ext cx="123444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1" name="Text 59"/>
          <p:cNvSpPr/>
          <p:nvPr/>
        </p:nvSpPr>
        <p:spPr>
          <a:xfrm>
            <a:off x="4690872" y="285292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879592" y="2852928"/>
            <a:ext cx="123444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925312" y="285292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114032" y="2852928"/>
            <a:ext cx="192024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5" name="Text 63"/>
          <p:cNvSpPr/>
          <p:nvPr/>
        </p:nvSpPr>
        <p:spPr>
          <a:xfrm>
            <a:off x="7159752" y="28529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Low-feature, no MENA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56032" y="3401568"/>
            <a:ext cx="19202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67" name="Text 65"/>
          <p:cNvSpPr/>
          <p:nvPr/>
        </p:nvSpPr>
        <p:spPr>
          <a:xfrm>
            <a:off x="301752" y="34015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OpenEduCat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176272" y="3401568"/>
            <a:ext cx="12344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69" name="Text 67"/>
          <p:cNvSpPr/>
          <p:nvPr/>
        </p:nvSpPr>
        <p:spPr>
          <a:xfrm>
            <a:off x="2221992" y="340156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410712" y="3401568"/>
            <a:ext cx="12344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71" name="Text 69"/>
          <p:cNvSpPr/>
          <p:nvPr/>
        </p:nvSpPr>
        <p:spPr>
          <a:xfrm>
            <a:off x="3456432" y="340156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645152" y="3401568"/>
            <a:ext cx="12344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73" name="Text 71"/>
          <p:cNvSpPr/>
          <p:nvPr/>
        </p:nvSpPr>
        <p:spPr>
          <a:xfrm>
            <a:off x="4690872" y="340156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879592" y="3401568"/>
            <a:ext cx="12344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75" name="Text 73"/>
          <p:cNvSpPr/>
          <p:nvPr/>
        </p:nvSpPr>
        <p:spPr>
          <a:xfrm>
            <a:off x="5925312" y="340156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114032" y="3401568"/>
            <a:ext cx="19202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77" name="Text 75"/>
          <p:cNvSpPr/>
          <p:nvPr/>
        </p:nvSpPr>
        <p:spPr>
          <a:xfrm>
            <a:off x="7159752" y="34015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setup, no Arabic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56032" y="3950208"/>
            <a:ext cx="1920240" cy="51206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79" name="Text 77"/>
          <p:cNvSpPr/>
          <p:nvPr/>
        </p:nvSpPr>
        <p:spPr>
          <a:xfrm>
            <a:off x="301752" y="39502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 🌱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2176272" y="3950208"/>
            <a:ext cx="1234440" cy="51206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81" name="Text 79"/>
          <p:cNvSpPr/>
          <p:nvPr/>
        </p:nvSpPr>
        <p:spPr>
          <a:xfrm>
            <a:off x="2221992" y="395020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3410712" y="3950208"/>
            <a:ext cx="1234440" cy="51206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83" name="Text 81"/>
          <p:cNvSpPr/>
          <p:nvPr/>
        </p:nvSpPr>
        <p:spPr>
          <a:xfrm>
            <a:off x="3456432" y="395020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4645152" y="3950208"/>
            <a:ext cx="1234440" cy="51206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85" name="Text 83"/>
          <p:cNvSpPr/>
          <p:nvPr/>
        </p:nvSpPr>
        <p:spPr>
          <a:xfrm>
            <a:off x="4690872" y="395020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5879592" y="3950208"/>
            <a:ext cx="1234440" cy="51206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87" name="Text 85"/>
          <p:cNvSpPr/>
          <p:nvPr/>
        </p:nvSpPr>
        <p:spPr>
          <a:xfrm>
            <a:off x="5925312" y="395020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7114032" y="3950208"/>
            <a:ext cx="1920240" cy="51206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89" name="Text 87"/>
          <p:cNvSpPr/>
          <p:nvPr/>
        </p:nvSpPr>
        <p:spPr>
          <a:xfrm>
            <a:off x="7159752" y="39502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MARKET LEADER —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Architecture &amp; Features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Tri-domain structure. Role-segmented navigation. Every visitor finds their path in under 3 clicks.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Architecture — Tri-Domain Structure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73152" cy="8046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14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montessori.com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261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marketing site, school showcase &amp; e-commerce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55648"/>
            <a:ext cx="73152" cy="804672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47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app.montessori.com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1945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dashboard — school admin, educators, parents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688336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88336"/>
            <a:ext cx="73152" cy="80467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797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ar.montessori.com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127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 subdomain — RTL, MENA pricing, Arabic SEO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621024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621024"/>
            <a:ext cx="73152" cy="80467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124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blog.montessori.com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059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hub — Arabic + English Montessori education blog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Platform Features — By Pillar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816352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816352" cy="4389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777240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School Pillar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98448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enrollment &amp; admissions funnel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1865376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showcase + virtual classroom tour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2432304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Arabic + English site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2999232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communication + WhatsApp alerts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" y="3566160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directory, events &amp; newsletter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18688" y="777240"/>
            <a:ext cx="2816352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777240"/>
            <a:ext cx="2816352" cy="438912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777240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SaaS Platform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28416" y="1298448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Observation-based assessments (AMI levels)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28416" y="1865376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 classroom management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28416" y="2432304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billing (Stripe / Moyasar / Telr)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28416" y="2999232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curriculum recommendation engine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28416" y="3566160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mobile app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777240"/>
            <a:ext cx="2816352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777240"/>
            <a:ext cx="2816352" cy="43891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236208" y="777240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E-Commerce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72784" y="1298448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AMI/AMS certified materials catalogue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72784" y="1865376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Age-range filter (0-3 / 3-6 / 6-12)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72784" y="2432304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Multi-currency: AED, SAR, EGP, USD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72784" y="2999232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material curation box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72784" y="3566160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curriculum integration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Geo Strategy — Arabic MENA + Global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Hreflang. RTL. Arabic schema. Dialect keywords. Voice search. The complete MENA SEO playbook.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Geo Strategy — Multilingual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Subdomain-based multilingual strategy (Google recommended): independent crawl equity, geo-targeting per region, and clean hreflang implementation.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64008" cy="80467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Shape 7"/>
          <p:cNvSpPr/>
          <p:nvPr/>
        </p:nvSpPr>
        <p:spPr>
          <a:xfrm>
            <a:off x="3611880" y="1527048"/>
            <a:ext cx="749808" cy="274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5270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4538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810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x-default  •  English Global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59152"/>
            <a:ext cx="64008" cy="8046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Shape 13"/>
          <p:cNvSpPr/>
          <p:nvPr/>
        </p:nvSpPr>
        <p:spPr>
          <a:xfrm>
            <a:off x="3611880" y="2496312"/>
            <a:ext cx="749808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24963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ar.montessori.com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7797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MENA  •  All Arabic markets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328416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328416"/>
            <a:ext cx="64008" cy="80467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1" name="Shape 19"/>
          <p:cNvSpPr/>
          <p:nvPr/>
        </p:nvSpPr>
        <p:spPr>
          <a:xfrm>
            <a:off x="3611880" y="3465576"/>
            <a:ext cx="749808" cy="2743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34655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ar-ae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3924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ar.montessori.com/ae/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UAE  •  UAE geo-targeting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27448" y="1389888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27448" y="1389888"/>
            <a:ext cx="64008" cy="80467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7" name="Shape 25"/>
          <p:cNvSpPr/>
          <p:nvPr/>
        </p:nvSpPr>
        <p:spPr>
          <a:xfrm>
            <a:off x="8019288" y="1527048"/>
            <a:ext cx="749808" cy="2743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8" name="Text 26"/>
          <p:cNvSpPr/>
          <p:nvPr/>
        </p:nvSpPr>
        <p:spPr>
          <a:xfrm>
            <a:off x="8019288" y="15270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ar-sa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0328" y="14538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ar.montessori.com/sa/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0328" y="1810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KSA  •  Saudi geo-targeting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27448" y="2359152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27448" y="2359152"/>
            <a:ext cx="64008" cy="804672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33" name="Shape 31"/>
          <p:cNvSpPr/>
          <p:nvPr/>
        </p:nvSpPr>
        <p:spPr>
          <a:xfrm>
            <a:off x="8019288" y="2496312"/>
            <a:ext cx="749808" cy="274320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34" name="Text 32"/>
          <p:cNvSpPr/>
          <p:nvPr/>
        </p:nvSpPr>
        <p:spPr>
          <a:xfrm>
            <a:off x="8019288" y="24963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ar-eg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10328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ar.montessori.com/eg/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10328" y="27797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Egypt  •  Egypt geo-targeting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27448" y="3328416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27448" y="3328416"/>
            <a:ext cx="64008" cy="804672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39" name="Shape 37"/>
          <p:cNvSpPr/>
          <p:nvPr/>
        </p:nvSpPr>
        <p:spPr>
          <a:xfrm>
            <a:off x="8019288" y="3465576"/>
            <a:ext cx="749808" cy="274320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40" name="Text 38"/>
          <p:cNvSpPr/>
          <p:nvPr/>
        </p:nvSpPr>
        <p:spPr>
          <a:xfrm>
            <a:off x="8019288" y="34655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ar-kw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10328" y="33924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ar.montessori.com/kw/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10328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Kuwait  •  Kuwait geo-targeting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RTL Technical Requirements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251960" cy="658368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886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Direction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1612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&lt;html lang="ar" dir="rtl"&gt; on all Arabic pages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591056"/>
            <a:ext cx="4251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1636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Direction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9110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direction:rtl; text-align:right at :root for Arabic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340864"/>
            <a:ext cx="4251960" cy="658368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386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Stack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6609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· Noto Sans Arabic · Tajawal — font-display:swap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90672"/>
            <a:ext cx="4251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3136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Subsetting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3410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Arabic U+0600–U+06FF only (60% size reduction)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840480"/>
            <a:ext cx="4251960" cy="658368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41605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icons (arrows, chevrons) CSS-flipped for RTL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841248"/>
            <a:ext cx="4251960" cy="658368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73168" y="886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11612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Flex/Grid use start/end, never left/right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591056"/>
            <a:ext cx="4251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73168" y="1636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19110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RTL-aligned inputs with Arabic placeholder text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340864"/>
            <a:ext cx="4251960" cy="658368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73168" y="2386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26609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Arabic-Indic numerals option (٠١٢٣) for MENA audience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090672"/>
            <a:ext cx="4251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73168" y="3136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3410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Hijri calendar option alongside Gregorian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840480"/>
            <a:ext cx="4251960" cy="658368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73168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Meta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73168" y="41605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og:title, og:description for WhatsApp sharing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Keyword Strategy — MENA Search Intent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589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queries are longer and question-based (كيف / ما هو / أين). Target Modern Standard Arabic + regional dialects.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25296"/>
            <a:ext cx="246888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252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Keyword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0" y="1225296"/>
            <a:ext cx="265176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2252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Target (MSA)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94960" y="1225296"/>
            <a:ext cx="214884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2252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Intent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609344"/>
            <a:ext cx="246888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6420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school UAE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1609344"/>
            <a:ext cx="2651760" cy="51206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66420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مدرسة مونتيسوري الإمارات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1609344"/>
            <a:ext cx="21488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1719072"/>
            <a:ext cx="13716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5687568" y="1664208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— Parents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121408"/>
            <a:ext cx="246888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17627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curriculum software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2121408"/>
            <a:ext cx="2651760" cy="51206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217627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برنامج منهج مونتيسوري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94960" y="2121408"/>
            <a:ext cx="214884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0" y="2231136"/>
            <a:ext cx="137160" cy="27432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26" name="Text 24"/>
          <p:cNvSpPr/>
          <p:nvPr/>
        </p:nvSpPr>
        <p:spPr>
          <a:xfrm>
            <a:off x="5687568" y="2176272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— School Admins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633472"/>
            <a:ext cx="246888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68833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Montessori materials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0" y="2633472"/>
            <a:ext cx="2651760" cy="51206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30" name="Text 28"/>
          <p:cNvSpPr/>
          <p:nvPr/>
        </p:nvSpPr>
        <p:spPr>
          <a:xfrm>
            <a:off x="2834640" y="268833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شراء أدوات مونتيسوري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94960" y="2633472"/>
            <a:ext cx="21488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0" y="2743200"/>
            <a:ext cx="137160" cy="2743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3" name="Text 31"/>
          <p:cNvSpPr/>
          <p:nvPr/>
        </p:nvSpPr>
        <p:spPr>
          <a:xfrm>
            <a:off x="5687568" y="2688336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— Buyers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145536"/>
            <a:ext cx="246888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2004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teach Montessori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0" y="3145536"/>
            <a:ext cx="2651760" cy="51206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37" name="Text 35"/>
          <p:cNvSpPr/>
          <p:nvPr/>
        </p:nvSpPr>
        <p:spPr>
          <a:xfrm>
            <a:off x="2834640" y="32004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 تعلم منهج مونتيسوري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94960" y="3145536"/>
            <a:ext cx="214884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0" y="3255264"/>
            <a:ext cx="137160" cy="2743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40" name="Text 38"/>
          <p:cNvSpPr/>
          <p:nvPr/>
        </p:nvSpPr>
        <p:spPr>
          <a:xfrm>
            <a:off x="5687568" y="3200400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— Educators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657600"/>
            <a:ext cx="246888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371246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school management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0" y="3657600"/>
            <a:ext cx="2651760" cy="51206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4" name="Text 42"/>
          <p:cNvSpPr/>
          <p:nvPr/>
        </p:nvSpPr>
        <p:spPr>
          <a:xfrm>
            <a:off x="2834640" y="37124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مدرسة مونتيسوري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94960" y="3657600"/>
            <a:ext cx="2148840" cy="512064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46" name="Shape 44"/>
          <p:cNvSpPr/>
          <p:nvPr/>
        </p:nvSpPr>
        <p:spPr>
          <a:xfrm>
            <a:off x="5486400" y="3767328"/>
            <a:ext cx="137160" cy="274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7" name="Text 45"/>
          <p:cNvSpPr/>
          <p:nvPr/>
        </p:nvSpPr>
        <p:spPr>
          <a:xfrm>
            <a:off x="5687568" y="3712464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— SaaS Buyers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4169664"/>
            <a:ext cx="246888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422452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at home activities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0" y="4169664"/>
            <a:ext cx="2651760" cy="51206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51" name="Text 49"/>
          <p:cNvSpPr/>
          <p:nvPr/>
        </p:nvSpPr>
        <p:spPr>
          <a:xfrm>
            <a:off x="2834640" y="422452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أنشطة مونتيسوري في المنزل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394960" y="4169664"/>
            <a:ext cx="2148840" cy="51206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3" name="Shape 51"/>
          <p:cNvSpPr/>
          <p:nvPr/>
        </p:nvSpPr>
        <p:spPr>
          <a:xfrm>
            <a:off x="5486400" y="4279392"/>
            <a:ext cx="137160" cy="2743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54" name="Text 52"/>
          <p:cNvSpPr/>
          <p:nvPr/>
        </p:nvSpPr>
        <p:spPr>
          <a:xfrm>
            <a:off x="5687568" y="4224528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— Parents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Audit Requirements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audit domains. Quarterly cadence. Zero exceptions. This is how we stay the best platform in MENA.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Domain 1 — Core Web Vitals Performance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1591056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1591056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80467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LCP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9184" y="13898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Contentful Paint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084832"/>
            <a:ext cx="1408176" cy="8046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10312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242316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2.5s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7472" y="2980944"/>
            <a:ext cx="1408176" cy="804672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999232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331927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Our: ≤ 1.8s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93392" y="804672"/>
            <a:ext cx="1591056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93392" y="804672"/>
            <a:ext cx="1591056" cy="50292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8" name="Text 16"/>
          <p:cNvSpPr/>
          <p:nvPr/>
        </p:nvSpPr>
        <p:spPr>
          <a:xfrm>
            <a:off x="1993392" y="80467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066544" y="13898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Paint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84832" y="2084832"/>
            <a:ext cx="1408176" cy="8046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2084832" y="210312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84832" y="242316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200ms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084832" y="2980944"/>
            <a:ext cx="1408176" cy="804672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24" name="Text 22"/>
          <p:cNvSpPr/>
          <p:nvPr/>
        </p:nvSpPr>
        <p:spPr>
          <a:xfrm>
            <a:off x="2084832" y="2999232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84832" y="331927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Our: ≤ 150ms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30752" y="804672"/>
            <a:ext cx="1591056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30752" y="804672"/>
            <a:ext cx="1591056" cy="5029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6"/>
          <p:cNvSpPr/>
          <p:nvPr/>
        </p:nvSpPr>
        <p:spPr>
          <a:xfrm>
            <a:off x="3730752" y="80467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803904" y="13898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Shift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22192" y="2084832"/>
            <a:ext cx="1408176" cy="8046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3822192" y="210312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22192" y="242316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0.1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822192" y="2980944"/>
            <a:ext cx="1408176" cy="804672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34" name="Text 32"/>
          <p:cNvSpPr/>
          <p:nvPr/>
        </p:nvSpPr>
        <p:spPr>
          <a:xfrm>
            <a:off x="3822192" y="2999232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22192" y="331927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Our: ≤ 0.05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68112" y="804672"/>
            <a:ext cx="1591056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68112" y="804672"/>
            <a:ext cx="1591056" cy="5029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8" name="Text 36"/>
          <p:cNvSpPr/>
          <p:nvPr/>
        </p:nvSpPr>
        <p:spPr>
          <a:xfrm>
            <a:off x="5468112" y="80467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FCP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541264" y="13898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Contentful Paint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59552" y="2084832"/>
            <a:ext cx="1408176" cy="8046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1" name="Text 39"/>
          <p:cNvSpPr/>
          <p:nvPr/>
        </p:nvSpPr>
        <p:spPr>
          <a:xfrm>
            <a:off x="5559552" y="210312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59552" y="242316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1.8s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559552" y="2980944"/>
            <a:ext cx="1408176" cy="804672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4" name="Text 42"/>
          <p:cNvSpPr/>
          <p:nvPr/>
        </p:nvSpPr>
        <p:spPr>
          <a:xfrm>
            <a:off x="5559552" y="2999232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59552" y="331927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Our: ≤ 1.2s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205472" y="804672"/>
            <a:ext cx="1591056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205472" y="804672"/>
            <a:ext cx="1591056" cy="5029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48" name="Text 46"/>
          <p:cNvSpPr/>
          <p:nvPr/>
        </p:nvSpPr>
        <p:spPr>
          <a:xfrm>
            <a:off x="7205472" y="80467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TTFB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278624" y="13898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Byte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296912" y="2084832"/>
            <a:ext cx="1408176" cy="8046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1" name="Text 49"/>
          <p:cNvSpPr/>
          <p:nvPr/>
        </p:nvSpPr>
        <p:spPr>
          <a:xfrm>
            <a:off x="7296912" y="210312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96912" y="2423160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800ms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7296912" y="2980944"/>
            <a:ext cx="1408176" cy="804672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54" name="Text 52"/>
          <p:cNvSpPr/>
          <p:nvPr/>
        </p:nvSpPr>
        <p:spPr>
          <a:xfrm>
            <a:off x="7296912" y="2999232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96912" y="331927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Our: ≤ 500ms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Domains 2–5 — Technical, Accessibility, Security, RTL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786384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86384"/>
            <a:ext cx="4160520" cy="38404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86384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Technical SEO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sitemap per subdomain to GSC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4996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+ canonical tags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title tags 50-60 chars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048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enforced, TLS 1.3 min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3225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redirect chains (max 1 hop)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786384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786384"/>
            <a:ext cx="4160520" cy="384048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786384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WCAG 2.2 AA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73168" y="12252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have alt text in Arabic/English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73168" y="14996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navigation + focus indicators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4.5:1 color contrast ratio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73168" y="2048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roles on all interactive elements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73168" y="23225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JAWS + VoiceOver Arabic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2779776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2779776"/>
            <a:ext cx="4160520" cy="38404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77977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Security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218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 + CSP + X-Frame-Options headers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3493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checkout (Stripe/Moyasar)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3767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for all admin accounts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third-party pen test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315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WAF rate limiting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2779776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79776"/>
            <a:ext cx="416052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277977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RTL/Multilingual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73168" y="3218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dir=rtl verified on all Arabic pages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3168" y="3493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Hreflang validated via GSC + Ahrefs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73168" y="3767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font rendering on iOS/Android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73168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full-text search morphology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73168" y="4315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OG tags for WhatsApp sharing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Monetization Model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revenue streams. Freemium entry. MENA-native payments. $880K Year-1 combined target.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 — Seven-Engine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786384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86384"/>
            <a:ext cx="201168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914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Starter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" y="12801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$49/mo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" y="179222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30 students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" y="2176272"/>
            <a:ext cx="1874520" cy="29260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" y="2176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 ARR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32304" y="786384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32304" y="786384"/>
            <a:ext cx="201168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2505456" y="914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Growth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05456" y="12801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$99/mo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05456" y="179222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students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05456" y="2176272"/>
            <a:ext cx="1874520" cy="29260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19" name="Text 17"/>
          <p:cNvSpPr/>
          <p:nvPr/>
        </p:nvSpPr>
        <p:spPr>
          <a:xfrm>
            <a:off x="2505456" y="2176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$240K ARR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08576" y="786384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786384"/>
            <a:ext cx="201168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20"/>
          <p:cNvSpPr/>
          <p:nvPr/>
        </p:nvSpPr>
        <p:spPr>
          <a:xfrm>
            <a:off x="4681728" y="914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Enterprise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81728" y="12801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$299/mo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81728" y="179222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students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2176272"/>
            <a:ext cx="1874520" cy="29260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2176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 ARR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84848" y="786384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84848" y="786384"/>
            <a:ext cx="2011680" cy="73152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914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Materials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12801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$85 AOV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58000" y="179222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product sales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2176272"/>
            <a:ext cx="1874520" cy="29260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2176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 Rev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" y="2779776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2779776"/>
            <a:ext cx="2011680" cy="7315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6" name="Text 34"/>
          <p:cNvSpPr/>
          <p:nvPr/>
        </p:nvSpPr>
        <p:spPr>
          <a:xfrm>
            <a:off x="329184" y="2907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Courses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9184" y="327355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46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$29–$199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29184" y="37856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course or subscription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9184" y="4169664"/>
            <a:ext cx="1874520" cy="29260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0" name="Text 38"/>
          <p:cNvSpPr/>
          <p:nvPr/>
        </p:nvSpPr>
        <p:spPr>
          <a:xfrm>
            <a:off x="329184" y="41696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 Rev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432304" y="2779776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32304" y="2779776"/>
            <a:ext cx="2011680" cy="7315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43" name="Text 41"/>
          <p:cNvSpPr/>
          <p:nvPr/>
        </p:nvSpPr>
        <p:spPr>
          <a:xfrm>
            <a:off x="2505456" y="2907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Box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505456" y="327355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$59/mo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2505456" y="37856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material curation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05456" y="4169664"/>
            <a:ext cx="1874520" cy="29260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7" name="Text 45"/>
          <p:cNvSpPr/>
          <p:nvPr/>
        </p:nvSpPr>
        <p:spPr>
          <a:xfrm>
            <a:off x="2505456" y="41696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 ARR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08576" y="2779776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08576" y="2779776"/>
            <a:ext cx="2011680" cy="73152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50" name="Text 48"/>
          <p:cNvSpPr/>
          <p:nvPr/>
        </p:nvSpPr>
        <p:spPr>
          <a:xfrm>
            <a:off x="4681728" y="2907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Consulting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681728" y="327355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58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$500–$2K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4681728" y="37856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school onboarding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81728" y="4169664"/>
            <a:ext cx="1874520" cy="29260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54" name="Text 52"/>
          <p:cNvSpPr/>
          <p:nvPr/>
        </p:nvSpPr>
        <p:spPr>
          <a:xfrm>
            <a:off x="4681728" y="41696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Rev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Strategy + MENA-Native Payments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86384"/>
            <a:ext cx="4114800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86384"/>
            <a:ext cx="4114800" cy="42062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86384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Freemium Strategy (Figma + HubSpot Model)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31673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classroom · up to 15 students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17922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parent messaging + portfolio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curriculum tracking (AMI levels)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8912" y="27432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free Montessori template library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" y="32186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GB file storage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8912" y="36941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Upgrade trigger: 2nd classroom, billing,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advanced reports, white-labelling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786384"/>
            <a:ext cx="4206240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786384"/>
            <a:ext cx="4206240" cy="42062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786384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MENA-Native Payment Stack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36592" y="1316736"/>
            <a:ext cx="4041648" cy="40233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13441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70448" y="13441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cards, Link, Apple/Google Pay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36592" y="1773936"/>
            <a:ext cx="4041648" cy="40233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18013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Moyasar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70448" y="18013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— Mada + VISA/MC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36592" y="2231136"/>
            <a:ext cx="4041648" cy="40233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25" name="Text 23"/>
          <p:cNvSpPr/>
          <p:nvPr/>
        </p:nvSpPr>
        <p:spPr>
          <a:xfrm>
            <a:off x="4809744" y="2258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70448" y="22585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— local acquiring + KNET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6592" y="2688336"/>
            <a:ext cx="4041648" cy="40233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8" name="Text 26"/>
          <p:cNvSpPr/>
          <p:nvPr/>
        </p:nvSpPr>
        <p:spPr>
          <a:xfrm>
            <a:off x="4809744" y="2715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70448" y="27157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Multi-GCC — KSA, UAE, Jordan, Egypt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6592" y="3145536"/>
            <a:ext cx="4041648" cy="40233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31" name="Text 29"/>
          <p:cNvSpPr/>
          <p:nvPr/>
        </p:nvSpPr>
        <p:spPr>
          <a:xfrm>
            <a:off x="4809744" y="31729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70448" y="31729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+ KSA fallback gateway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36592" y="3602736"/>
            <a:ext cx="4041648" cy="40233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34" name="Text 32"/>
          <p:cNvSpPr/>
          <p:nvPr/>
        </p:nvSpPr>
        <p:spPr>
          <a:xfrm>
            <a:off x="4809744" y="36301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70448" y="36301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· SAR · EGP · KWD · USD · EUR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36592" y="4059936"/>
            <a:ext cx="4041648" cy="40233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37" name="Text 35"/>
          <p:cNvSpPr/>
          <p:nvPr/>
        </p:nvSpPr>
        <p:spPr>
          <a:xfrm>
            <a:off x="4809744" y="40873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Ramadan 🌙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70448" y="40873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discount during peak MENA season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 &amp; Tech Stack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phases. 24 months. From foundation to AI-powered MENA market leader.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— 5 Phases, 24 Months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47088" y="1078992"/>
            <a:ext cx="146304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56032" y="804672"/>
            <a:ext cx="1591056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04672"/>
            <a:ext cx="1591056" cy="5486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850392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9184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" y="1883664"/>
            <a:ext cx="140817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 stack, Arabic/English marketing site, SEO foundation, Google Analytics 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84448" y="1078992"/>
            <a:ext cx="146304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993392" y="804672"/>
            <a:ext cx="1591056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3392" y="804672"/>
            <a:ext cx="159105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1993392" y="850392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66544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MVP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084832" y="1883664"/>
            <a:ext cx="140817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admin dashboard, curriculum tracking, parent portal, Stripe billing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21808" y="1078992"/>
            <a:ext cx="146304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730752" y="804672"/>
            <a:ext cx="1591056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30752" y="804672"/>
            <a:ext cx="1591056" cy="54864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1" name="Text 19"/>
          <p:cNvSpPr/>
          <p:nvPr/>
        </p:nvSpPr>
        <p:spPr>
          <a:xfrm>
            <a:off x="3730752" y="850392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03904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22192" y="1883664"/>
            <a:ext cx="140817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product catalogue, AMI filters, multi-currency checkout, subscription box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59168" y="1078992"/>
            <a:ext cx="146304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68112" y="804672"/>
            <a:ext cx="1591056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68112" y="804672"/>
            <a:ext cx="1591056" cy="54864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7" name="Text 25"/>
          <p:cNvSpPr/>
          <p:nvPr/>
        </p:nvSpPr>
        <p:spPr>
          <a:xfrm>
            <a:off x="5468112" y="850392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41264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Scale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559552" y="1883664"/>
            <a:ext cx="140817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UAE+KSA+EG+KW live, Arabic App Store, WhatsApp review campaign, local directories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205472" y="804672"/>
            <a:ext cx="1591056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05472" y="804672"/>
            <a:ext cx="1591056" cy="54864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32" name="Text 30"/>
          <p:cNvSpPr/>
          <p:nvPr/>
        </p:nvSpPr>
        <p:spPr>
          <a:xfrm>
            <a:off x="7205472" y="850392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78624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Growth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296912" y="1883664"/>
            <a:ext cx="140817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curriculum recommender, AI report generator, affiliate program, white-label franchise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Technology Stack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MONTESSORI HYBRID PLATFORM  •  STRATEGY 2025–26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86384"/>
            <a:ext cx="4160520" cy="67665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86384"/>
            <a:ext cx="64008" cy="6766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841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11155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14+ (App Router) — SSR for SEO, built-in i18n for RTL/LTR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1728" y="786384"/>
            <a:ext cx="416052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681728" y="786384"/>
            <a:ext cx="64008" cy="6766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841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1155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tailwindcss-rtl plugin for seamless Arabic/English layouts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563624"/>
            <a:ext cx="4160520" cy="67665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1563624"/>
            <a:ext cx="64008" cy="676656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16184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8912" y="18928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Sanity.io — per-locale Arabic content management, live preview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81728" y="1563624"/>
            <a:ext cx="416052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681728" y="1563624"/>
            <a:ext cx="64008" cy="676656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6184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18928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Storefront API or Medusa.js for full Arabic product control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340864"/>
            <a:ext cx="4160520" cy="67665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2340864"/>
            <a:ext cx="64008" cy="676656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2395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DB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8912" y="26700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PostgreSQL (Supabase) — row-level security per school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81728" y="2340864"/>
            <a:ext cx="416052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681728" y="2340864"/>
            <a:ext cx="64008" cy="676656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395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0" y="26700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Algolia with Arabic language support — handles Arabic morphology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118104"/>
            <a:ext cx="4160520" cy="67665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118104"/>
            <a:ext cx="64008" cy="676656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" y="3172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8912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(global) + Moyasar (KSA) + Telr (UAE) — full GCC coverage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81728" y="3118104"/>
            <a:ext cx="416052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681728" y="3118104"/>
            <a:ext cx="64008" cy="676656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172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46320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 + AWS Middle East (Bahrain/UAE) for MENA latency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3895344"/>
            <a:ext cx="4160520" cy="676656"/>
          </a:xfrm>
          <a:prstGeom prst="rect">
            <a:avLst/>
          </a:prstGeom>
          <a:solidFill>
            <a:srgbClr val="F9FBF9"/>
          </a:solidFill>
          <a:ln/>
        </p:spPr>
      </p:sp>
      <p:sp>
        <p:nvSpPr>
          <p:cNvPr id="39" name="Shape 37"/>
          <p:cNvSpPr/>
          <p:nvPr/>
        </p:nvSpPr>
        <p:spPr>
          <a:xfrm>
            <a:off x="274320" y="3895344"/>
            <a:ext cx="64008" cy="676656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0" name="Text 38"/>
          <p:cNvSpPr/>
          <p:nvPr/>
        </p:nvSpPr>
        <p:spPr>
          <a:xfrm>
            <a:off x="438912" y="3950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38912" y="42245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(email) + Twilio WhatsApp Business API — MENA #1 channel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81728" y="3895344"/>
            <a:ext cx="4160520" cy="676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681728" y="3895344"/>
            <a:ext cx="64008" cy="676656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950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846320" y="42245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+ Hotjar + Microsoft Clarity + Google Search Console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822960"/>
            <a:ext cx="8321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Build the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World's Best Montessori Platform.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MENA-First  •  Arabic-Native  •  SaaS + School + Store  •  WCAG 2.2 AA  •  Core Web Vitals Optimised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520440"/>
            <a:ext cx="1572768" cy="43891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35204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Pillar 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12264" y="3520440"/>
            <a:ext cx="1572768" cy="43891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9" name="Text 7"/>
          <p:cNvSpPr/>
          <p:nvPr/>
        </p:nvSpPr>
        <p:spPr>
          <a:xfrm>
            <a:off x="2112264" y="35204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 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13048" y="3520440"/>
            <a:ext cx="1572768" cy="43891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1" name="Text 9"/>
          <p:cNvSpPr/>
          <p:nvPr/>
        </p:nvSpPr>
        <p:spPr>
          <a:xfrm>
            <a:off x="3813048" y="35204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13832" y="3520440"/>
            <a:ext cx="1572768" cy="43891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1"/>
          <p:cNvSpPr/>
          <p:nvPr/>
        </p:nvSpPr>
        <p:spPr>
          <a:xfrm>
            <a:off x="5513832" y="35204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SEO 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14616" y="3520440"/>
            <a:ext cx="1572768" cy="43891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214616" y="35204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4348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Montessori Hybrid Platform  •  Confidential &amp; Proprietary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lobal Competitors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HdrTxt"/>
          <p:cNvSpPr/>
          <p:nvPr/>
        </p:nvSpPr>
        <p:spPr>
          <a:xfrm>
            <a:off x="274320" y="73152"/>
            <a:ext cx="8595360" cy="530352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</a:rPr>
              <a:t>Global Montessori SaaS Competitors — Top 7 Platforms</a:t>
            </a:r>
          </a:p>
        </p:txBody>
      </p:sp>
      <p:sp>
        <p:nvSpPr>
          <p:cNvPr id="4" name="FtrBg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5" name="FtrTxt"/>
          <p:cNvSpPr/>
          <p:nvPr/>
        </p:nvSpPr>
        <p:spPr>
          <a:xfrm>
            <a:off x="274320" y="4772880"/>
            <a:ext cx="8595360" cy="34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</a:rPr>
              <a:t>MONTESSORI PLATFORM  •  GLOBAL COMPETITOR ANALYSIS 2025-26</a:t>
            </a:r>
          </a:p>
        </p:txBody>
      </p:sp>
      <p:sp>
        <p:nvSpPr>
          <p:cNvPr id="6" name="Sub"/>
          <p:cNvSpPr/>
          <p:nvPr/>
        </p:nvSpPr>
        <p:spPr>
          <a:xfrm>
            <a:off x="274320" y="670000"/>
            <a:ext cx="8595360" cy="17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</a:rPr>
              <a:t>Each platform leads in its home market — none combines School Management + SaaS + E-Commerce in a single native brand.</a:t>
            </a:r>
          </a:p>
        </p:txBody>
      </p:sp>
      <p:sp>
        <p:nvSpPr>
          <p:cNvPr id="7" name="CB7"/>
          <p:cNvSpPr/>
          <p:nvPr/>
        </p:nvSpPr>
        <p:spPr>
          <a:xfrm>
            <a:off x="274320" y="870000"/>
            <a:ext cx="4100000" cy="60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CA8"/>
          <p:cNvSpPr/>
          <p:nvPr/>
        </p:nvSpPr>
        <p:spPr>
          <a:xfrm>
            <a:off x="274320" y="870000"/>
            <a:ext cx="4100000" cy="24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CT9"/>
          <p:cNvSpPr/>
          <p:nvPr/>
        </p:nvSpPr>
        <p:spPr>
          <a:xfrm>
            <a:off x="320040" y="898000"/>
            <a:ext cx="4008560" cy="572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</a:rPr>
              <a:t>Brightwheel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607D8B"/>
                </a:solidFill>
                <a:latin typeface="Calibri" pitchFamily="34" charset="0"/>
              </a:rPr>
              <a:t>San Francisco, USA  |  Est. 2014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2E7D32"/>
                </a:solidFill>
                <a:latin typeface="Calibri" pitchFamily="34" charset="0"/>
              </a:rPr>
              <a:t>+ No. 1 US childcare app — rich billing, messaging, Montessori curriculum bank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C62828"/>
                </a:solidFill>
                <a:latin typeface="Calibri" pitchFamily="34" charset="0"/>
              </a:rPr>
              <a:t>- USD only — no Arabic/RTL — US-centric — no multilingual or MENA support</a:t>
            </a:r>
          </a:p>
        </p:txBody>
      </p:sp>
      <p:sp>
        <p:nvSpPr>
          <p:cNvPr id="10" name="CB10"/>
          <p:cNvSpPr/>
          <p:nvPr/>
        </p:nvSpPr>
        <p:spPr>
          <a:xfrm>
            <a:off x="4769680" y="870000"/>
            <a:ext cx="4100000" cy="60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CA11"/>
          <p:cNvSpPr/>
          <p:nvPr/>
        </p:nvSpPr>
        <p:spPr>
          <a:xfrm>
            <a:off x="4769680" y="870000"/>
            <a:ext cx="4100000" cy="240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2" name="CT12"/>
          <p:cNvSpPr/>
          <p:nvPr/>
        </p:nvSpPr>
        <p:spPr>
          <a:xfrm>
            <a:off x="4815400" y="898000"/>
            <a:ext cx="4008560" cy="572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</a:rPr>
              <a:t>illumine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607D8B"/>
                </a:solidFill>
                <a:latin typeface="Calibri" pitchFamily="34" charset="0"/>
              </a:rPr>
              <a:t>Singapore / Global  |  Est. 2017  |  AI-powered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2E7D32"/>
                </a:solidFill>
                <a:latin typeface="Calibri" pitchFamily="34" charset="0"/>
              </a:rPr>
              <a:t>+ AI-powered SaaS; partnered with Guidepost Montessori (80+ schools); automation-first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C62828"/>
                </a:solidFill>
                <a:latin typeface="Calibri" pitchFamily="34" charset="0"/>
              </a:rPr>
              <a:t>- English only — no regional language UI — limited compliance outside US/SG</a:t>
            </a:r>
          </a:p>
        </p:txBody>
      </p:sp>
      <p:sp>
        <p:nvSpPr>
          <p:cNvPr id="13" name="CB13"/>
          <p:cNvSpPr/>
          <p:nvPr/>
        </p:nvSpPr>
        <p:spPr>
          <a:xfrm>
            <a:off x="274320" y="1520000"/>
            <a:ext cx="4100000" cy="60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CA14"/>
          <p:cNvSpPr/>
          <p:nvPr/>
        </p:nvSpPr>
        <p:spPr>
          <a:xfrm>
            <a:off x="274320" y="1520000"/>
            <a:ext cx="4100000" cy="24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CT15"/>
          <p:cNvSpPr/>
          <p:nvPr/>
        </p:nvSpPr>
        <p:spPr>
          <a:xfrm>
            <a:off x="320040" y="1548000"/>
            <a:ext cx="4008560" cy="572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</a:rPr>
              <a:t>Transparent Classroom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607D8B"/>
                </a:solidFill>
                <a:latin typeface="Calibri" pitchFamily="34" charset="0"/>
              </a:rPr>
              <a:t>Portland, USA  |  Est. 2011  |  Montessori-specialist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2E7D32"/>
                </a:solidFill>
                <a:latin typeface="Calibri" pitchFamily="34" charset="0"/>
              </a:rPr>
              <a:t>+ Best-in-class Montessori portfolio and observation tool — trusted by 2,000+ schools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C62828"/>
                </a:solidFill>
                <a:latin typeface="Calibri" pitchFamily="34" charset="0"/>
              </a:rPr>
              <a:t>- Portfolio only — no billing, no enrollment, no parent app, no e-commerce</a:t>
            </a:r>
          </a:p>
        </p:txBody>
      </p:sp>
      <p:sp>
        <p:nvSpPr>
          <p:cNvPr id="16" name="CB16"/>
          <p:cNvSpPr/>
          <p:nvPr/>
        </p:nvSpPr>
        <p:spPr>
          <a:xfrm>
            <a:off x="4769680" y="1520000"/>
            <a:ext cx="4100000" cy="60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CA17"/>
          <p:cNvSpPr/>
          <p:nvPr/>
        </p:nvSpPr>
        <p:spPr>
          <a:xfrm>
            <a:off x="4769680" y="1520000"/>
            <a:ext cx="4100000" cy="240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CT18"/>
          <p:cNvSpPr/>
          <p:nvPr/>
        </p:nvSpPr>
        <p:spPr>
          <a:xfrm>
            <a:off x="4815400" y="1548000"/>
            <a:ext cx="4008560" cy="572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</a:rPr>
              <a:t>Procare Solutions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607D8B"/>
                </a:solidFill>
                <a:latin typeface="Calibri" pitchFamily="34" charset="0"/>
              </a:rPr>
              <a:t>USA  |  Est. 1992  |  Enterprise childcare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2E7D32"/>
                </a:solidFill>
                <a:latin typeface="Calibri" pitchFamily="34" charset="0"/>
              </a:rPr>
              <a:t>+ Robust admin, billing and compliance for large childcare chains since 1992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C62828"/>
                </a:solidFill>
                <a:latin typeface="Calibri" pitchFamily="34" charset="0"/>
              </a:rPr>
              <a:t>- Steep learning curve — $129+/mo USD — not Montessori-native — generic ERP</a:t>
            </a:r>
          </a:p>
        </p:txBody>
      </p:sp>
      <p:sp>
        <p:nvSpPr>
          <p:cNvPr id="19" name="CB19"/>
          <p:cNvSpPr/>
          <p:nvPr/>
        </p:nvSpPr>
        <p:spPr>
          <a:xfrm>
            <a:off x="274320" y="2170000"/>
            <a:ext cx="4100000" cy="60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CA20"/>
          <p:cNvSpPr/>
          <p:nvPr/>
        </p:nvSpPr>
        <p:spPr>
          <a:xfrm>
            <a:off x="274320" y="2170000"/>
            <a:ext cx="4100000" cy="24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CT21"/>
          <p:cNvSpPr/>
          <p:nvPr/>
        </p:nvSpPr>
        <p:spPr>
          <a:xfrm>
            <a:off x="320040" y="2198000"/>
            <a:ext cx="4008560" cy="572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</a:rPr>
              <a:t>HiMama / Lillio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607D8B"/>
                </a:solidFill>
                <a:latin typeface="Calibri" pitchFamily="34" charset="0"/>
              </a:rPr>
              <a:t>Toronto, Canada  |  Est. 2012  |  Parent engagement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2E7D32"/>
                </a:solidFill>
                <a:latin typeface="Calibri" pitchFamily="34" charset="0"/>
              </a:rPr>
              <a:t>+ Strong daily reports, milestone tracking and photo/video sharing for parents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C62828"/>
                </a:solidFill>
                <a:latin typeface="Calibri" pitchFamily="34" charset="0"/>
              </a:rPr>
              <a:t>- No lead management — no lesson planning — no Montessori-specific curriculum</a:t>
            </a:r>
          </a:p>
        </p:txBody>
      </p:sp>
      <p:sp>
        <p:nvSpPr>
          <p:cNvPr id="22" name="CB22"/>
          <p:cNvSpPr/>
          <p:nvPr/>
        </p:nvSpPr>
        <p:spPr>
          <a:xfrm>
            <a:off x="4769680" y="2170000"/>
            <a:ext cx="4100000" cy="60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CA23"/>
          <p:cNvSpPr/>
          <p:nvPr/>
        </p:nvSpPr>
        <p:spPr>
          <a:xfrm>
            <a:off x="4769680" y="2170000"/>
            <a:ext cx="4100000" cy="24000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24" name="CT24"/>
          <p:cNvSpPr/>
          <p:nvPr/>
        </p:nvSpPr>
        <p:spPr>
          <a:xfrm>
            <a:off x="4815400" y="2198000"/>
            <a:ext cx="4008560" cy="572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</a:rPr>
              <a:t>Daily Connect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607D8B"/>
                </a:solidFill>
                <a:latin typeface="Calibri" pitchFamily="34" charset="0"/>
              </a:rPr>
              <a:t>USA  |  Est. 2011  |  Montessori activities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2E7D32"/>
                </a:solidFill>
                <a:latin typeface="Calibri" pitchFamily="34" charset="0"/>
              </a:rPr>
              <a:t>+ 270+ Montessori learning activities (ages 0-6) across all 5 areas of learning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C62828"/>
                </a:solidFill>
                <a:latin typeface="Calibri" pitchFamily="34" charset="0"/>
              </a:rPr>
              <a:t>- No SaaS billing — no school admin — no e-commerce — content platform only</a:t>
            </a:r>
          </a:p>
        </p:txBody>
      </p:sp>
      <p:sp>
        <p:nvSpPr>
          <p:cNvPr id="25" name="CB25"/>
          <p:cNvSpPr/>
          <p:nvPr/>
        </p:nvSpPr>
        <p:spPr>
          <a:xfrm>
            <a:off x="2522000" y="2820000"/>
            <a:ext cx="4100000" cy="60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CA26"/>
          <p:cNvSpPr/>
          <p:nvPr/>
        </p:nvSpPr>
        <p:spPr>
          <a:xfrm>
            <a:off x="2522000" y="2820000"/>
            <a:ext cx="4100000" cy="240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7" name="CT27"/>
          <p:cNvSpPr/>
          <p:nvPr/>
        </p:nvSpPr>
        <p:spPr>
          <a:xfrm>
            <a:off x="2567720" y="2848000"/>
            <a:ext cx="4008560" cy="572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4D25"/>
                </a:solidFill>
                <a:latin typeface="Calibri" pitchFamily="34" charset="0"/>
              </a:rPr>
              <a:t>Famly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607D8B"/>
                </a:solidFill>
                <a:latin typeface="Calibri" pitchFamily="34" charset="0"/>
              </a:rPr>
              <a:t>London, UK  |  Est. 2013  |  UK/EU nurseries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2E7D32"/>
                </a:solidFill>
                <a:latin typeface="Calibri" pitchFamily="34" charset="0"/>
              </a:rPr>
              <a:t>+ Modern nursery UX — GDPR-compliant — strong UK/EU presence and regulatory fit</a:t>
            </a:r>
          </a:p>
          <a:p>
            <a:pPr algn="l" indent="0" marL="0">
              <a:buNone/>
            </a:pPr>
            <a:r>
              <a:rPr lang="en-US" sz="820" dirty="0">
                <a:solidFill>
                  <a:srgbClr val="C62828"/>
                </a:solidFill>
                <a:latin typeface="Calibri" pitchFamily="34" charset="0"/>
              </a:rPr>
              <a:t>- UK/EU market only — no multilingual non-European support — no e-commerce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Privilege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3" name="HdrTxt"/>
          <p:cNvSpPr/>
          <p:nvPr/>
        </p:nvSpPr>
        <p:spPr>
          <a:xfrm>
            <a:off x="274320" y="73152"/>
            <a:ext cx="8595360" cy="530352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</a:rPr>
              <a:t>Our Competitive Privilege — Why We Win Against Every Competitor</a:t>
            </a:r>
          </a:p>
        </p:txBody>
      </p:sp>
      <p:sp>
        <p:nvSpPr>
          <p:cNvPr id="4" name="FtrBg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5" name="FtrTxt"/>
          <p:cNvSpPr/>
          <p:nvPr/>
        </p:nvSpPr>
        <p:spPr>
          <a:xfrm>
            <a:off x="274320" y="4772880"/>
            <a:ext cx="8595360" cy="34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</a:rPr>
              <a:t>MONTESSORI PLATFORM  •  NO COMPETITOR MATCHES OUR INTEGRATED 3-IN-1 MODEL</a:t>
            </a:r>
          </a:p>
        </p:txBody>
      </p:sp>
      <p:sp>
        <p:nvSpPr>
          <p:cNvPr id="6" name="Sub"/>
          <p:cNvSpPr/>
          <p:nvPr/>
        </p:nvSpPr>
        <p:spPr>
          <a:xfrm>
            <a:off x="274320" y="670000"/>
            <a:ext cx="8595360" cy="17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</a:rPr>
              <a:t>No global competitor combines all seven pillars. This is our structural, first-mover advantage in every market we enter.</a:t>
            </a:r>
          </a:p>
        </p:txBody>
      </p:sp>
      <p:sp>
        <p:nvSpPr>
          <p:cNvPr id="7" name="AB7"/>
          <p:cNvSpPr/>
          <p:nvPr/>
        </p:nvSpPr>
        <p:spPr>
          <a:xfrm>
            <a:off x="274320" y="870000"/>
            <a:ext cx="4200000" cy="480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AL8"/>
          <p:cNvSpPr/>
          <p:nvPr/>
        </p:nvSpPr>
        <p:spPr>
          <a:xfrm>
            <a:off x="274320" y="870000"/>
            <a:ext cx="22000" cy="48000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9" name="AT9"/>
          <p:cNvSpPr/>
          <p:nvPr/>
        </p:nvSpPr>
        <p:spPr>
          <a:xfrm>
            <a:off x="329320" y="888000"/>
            <a:ext cx="4135000" cy="444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04D25"/>
                </a:solidFill>
                <a:latin typeface="Calibri" pitchFamily="34" charset="0"/>
              </a:rPr>
              <a:t>✅  vs Brightwheel</a:t>
            </a:r>
          </a:p>
          <a:p>
            <a:pPr algn="l"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</a:rPr>
              <a:t>We add: Arabic RTL + MENA payment gateways + regional compliance + 3-in-1 School-SaaS-Store. Brightwheel is billing; we are a full education platform.</a:t>
            </a:r>
          </a:p>
        </p:txBody>
      </p:sp>
      <p:sp>
        <p:nvSpPr>
          <p:cNvPr id="10" name="AB10"/>
          <p:cNvSpPr/>
          <p:nvPr/>
        </p:nvSpPr>
        <p:spPr>
          <a:xfrm>
            <a:off x="4669680" y="870000"/>
            <a:ext cx="4200000" cy="480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AL11"/>
          <p:cNvSpPr/>
          <p:nvPr/>
        </p:nvSpPr>
        <p:spPr>
          <a:xfrm>
            <a:off x="4669680" y="870000"/>
            <a:ext cx="22000" cy="48000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2" name="AT12"/>
          <p:cNvSpPr/>
          <p:nvPr/>
        </p:nvSpPr>
        <p:spPr>
          <a:xfrm>
            <a:off x="4724680" y="888000"/>
            <a:ext cx="4135000" cy="444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04D25"/>
                </a:solidFill>
                <a:latin typeface="Calibri" pitchFamily="34" charset="0"/>
              </a:rPr>
              <a:t>✅  vs illumine</a:t>
            </a:r>
          </a:p>
          <a:p>
            <a:pPr algn="l"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</a:rPr>
              <a:t>We add: native regional language UI + local regulatory compliance + WhatsApp/social-native comms + e-commerce. illumine is English-only automation.</a:t>
            </a:r>
          </a:p>
        </p:txBody>
      </p:sp>
      <p:sp>
        <p:nvSpPr>
          <p:cNvPr id="13" name="AB13"/>
          <p:cNvSpPr/>
          <p:nvPr/>
        </p:nvSpPr>
        <p:spPr>
          <a:xfrm>
            <a:off x="274320" y="1382000"/>
            <a:ext cx="4200000" cy="480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AL14"/>
          <p:cNvSpPr/>
          <p:nvPr/>
        </p:nvSpPr>
        <p:spPr>
          <a:xfrm>
            <a:off x="274320" y="1382000"/>
            <a:ext cx="22000" cy="48000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5" name="AT15"/>
          <p:cNvSpPr/>
          <p:nvPr/>
        </p:nvSpPr>
        <p:spPr>
          <a:xfrm>
            <a:off x="329320" y="1400000"/>
            <a:ext cx="4135000" cy="444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04D25"/>
                </a:solidFill>
                <a:latin typeface="Calibri" pitchFamily="34" charset="0"/>
              </a:rPr>
              <a:t>✅  vs Transparent Classroom</a:t>
            </a:r>
          </a:p>
          <a:p>
            <a:pPr algn="l"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</a:rPr>
              <a:t>We add: billing, enrollment, parent comms and e-commerce. Transparent Classroom is a portfolio tool; we are a complete school operating system.</a:t>
            </a:r>
          </a:p>
        </p:txBody>
      </p:sp>
      <p:sp>
        <p:nvSpPr>
          <p:cNvPr id="16" name="AB16"/>
          <p:cNvSpPr/>
          <p:nvPr/>
        </p:nvSpPr>
        <p:spPr>
          <a:xfrm>
            <a:off x="4669680" y="1382000"/>
            <a:ext cx="4200000" cy="480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7" name="AL17"/>
          <p:cNvSpPr/>
          <p:nvPr/>
        </p:nvSpPr>
        <p:spPr>
          <a:xfrm>
            <a:off x="4669680" y="1382000"/>
            <a:ext cx="22000" cy="48000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18" name="AT18"/>
          <p:cNvSpPr/>
          <p:nvPr/>
        </p:nvSpPr>
        <p:spPr>
          <a:xfrm>
            <a:off x="4724680" y="1400000"/>
            <a:ext cx="4135000" cy="444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04D25"/>
                </a:solidFill>
                <a:latin typeface="Calibri" pitchFamily="34" charset="0"/>
              </a:rPr>
              <a:t>✅  vs Procare Solutions</a:t>
            </a:r>
          </a:p>
          <a:p>
            <a:pPr algn="l"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</a:rPr>
              <a:t>We add: Montessori-native curriculum + multilingual UI + affordable regional pricing + simple onboarding. Procare is a generic US enterprise ERP.</a:t>
            </a:r>
          </a:p>
        </p:txBody>
      </p:sp>
      <p:sp>
        <p:nvSpPr>
          <p:cNvPr id="19" name="AB19"/>
          <p:cNvSpPr/>
          <p:nvPr/>
        </p:nvSpPr>
        <p:spPr>
          <a:xfrm>
            <a:off x="274320" y="1894000"/>
            <a:ext cx="4200000" cy="480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AL20"/>
          <p:cNvSpPr/>
          <p:nvPr/>
        </p:nvSpPr>
        <p:spPr>
          <a:xfrm>
            <a:off x="274320" y="1894000"/>
            <a:ext cx="22000" cy="48000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21" name="AT21"/>
          <p:cNvSpPr/>
          <p:nvPr/>
        </p:nvSpPr>
        <p:spPr>
          <a:xfrm>
            <a:off x="329320" y="1912000"/>
            <a:ext cx="4135000" cy="444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04D25"/>
                </a:solidFill>
                <a:latin typeface="Calibri" pitchFamily="34" charset="0"/>
              </a:rPr>
              <a:t>✅  vs HiMama / Lillio</a:t>
            </a:r>
          </a:p>
          <a:p>
            <a:pPr algn="l"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</a:rPr>
              <a:t>We add: lead management + lesson planning + Montessori curriculum + school admin + e-commerce. Lillio is a parent-report app, not a platform.</a:t>
            </a:r>
          </a:p>
        </p:txBody>
      </p:sp>
      <p:sp>
        <p:nvSpPr>
          <p:cNvPr id="22" name="AB22"/>
          <p:cNvSpPr/>
          <p:nvPr/>
        </p:nvSpPr>
        <p:spPr>
          <a:xfrm>
            <a:off x="4669680" y="1894000"/>
            <a:ext cx="4200000" cy="480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3" name="AL23"/>
          <p:cNvSpPr/>
          <p:nvPr/>
        </p:nvSpPr>
        <p:spPr>
          <a:xfrm>
            <a:off x="4669680" y="1894000"/>
            <a:ext cx="22000" cy="48000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24" name="AT24"/>
          <p:cNvSpPr/>
          <p:nvPr/>
        </p:nvSpPr>
        <p:spPr>
          <a:xfrm>
            <a:off x="4724680" y="1912000"/>
            <a:ext cx="4135000" cy="444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04D25"/>
                </a:solidFill>
                <a:latin typeface="Calibri" pitchFamily="34" charset="0"/>
              </a:rPr>
              <a:t>✅  vs Daily Connect</a:t>
            </a:r>
          </a:p>
          <a:p>
            <a:pPr algn="l" indent="0" marL="0">
              <a:buNone/>
            </a:pPr>
            <a:r>
              <a:rPr lang="en-US" sz="830" dirty="0">
                <a:solidFill>
                  <a:srgbClr val="37474F"/>
                </a:solidFill>
                <a:latin typeface="Calibri" pitchFamily="34" charset="0"/>
              </a:rPr>
              <a:t>We add: full SaaS billing, school management, e-commerce and regional compliance on top of the curriculum catalogue. Daily Connect is content-only.</a:t>
            </a:r>
          </a:p>
        </p:txBody>
      </p:sp>
      <p:sp>
        <p:nvSpPr>
          <p:cNvPr id="25" name="AB25"/>
          <p:cNvSpPr/>
          <p:nvPr/>
        </p:nvSpPr>
        <p:spPr>
          <a:xfrm>
            <a:off x="2472000" y="2406000"/>
            <a:ext cx="4200000" cy="480000"/>
          </a:xfrm>
          <a:prstGeom prst="rect">
            <a:avLst/>
          </a:prstGeom>
          <a:solidFill>
            <a:srgbClr val="004D25"/>
          </a:solidFill>
          <a:ln/>
        </p:spPr>
      </p:sp>
      <p:sp>
        <p:nvSpPr>
          <p:cNvPr id="26" name="AL26"/>
          <p:cNvSpPr/>
          <p:nvPr/>
        </p:nvSpPr>
        <p:spPr>
          <a:xfrm>
            <a:off x="2472000" y="2406000"/>
            <a:ext cx="22000" cy="480000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27" name="AT27"/>
          <p:cNvSpPr/>
          <p:nvPr/>
        </p:nvSpPr>
        <p:spPr>
          <a:xfrm>
            <a:off x="2527000" y="2424000"/>
            <a:ext cx="4135000" cy="444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A5D6A7"/>
                </a:solidFill>
                <a:latin typeface="Calibri" pitchFamily="34" charset="0"/>
              </a:rPr>
              <a:t>✅  vs ALL Competitors</a:t>
            </a:r>
          </a:p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</a:rPr>
              <a:t>We are the ONLY platform combining: Montessori School + SaaS Management + E-Commerce Store in one brand, with native Arabic and full regional compliance.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Montessori Platform — Website Strategy 2025-26</dc:title>
  <dc:subject>PptxGenJS Presentation</dc:subject>
  <dc:creator>Montessori Hybrid Platform</dc:creator>
  <cp:lastModifiedBy>Montessori Hybrid Platform</cp:lastModifiedBy>
  <cp:revision>1</cp:revision>
  <dcterms:created xsi:type="dcterms:W3CDTF">2026-05-19T12:39:35Z</dcterms:created>
  <dcterms:modified xsi:type="dcterms:W3CDTF">2026-05-19T12:39:35Z</dcterms:modified>
</cp:coreProperties>
</file>